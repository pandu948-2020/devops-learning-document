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1356496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2637631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3146005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B68F1D-7B74-4E30-B822-CF0664466DB6}" type="datetimeFigureOut">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1896934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B68F1D-7B74-4E30-B822-CF0664466DB6}" type="datetimeFigureOut">
              <a:rPr lang="en-IN" smtClean="0"/>
              <a:t>14-12-2025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827031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1567039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1363204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3059003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B68F1D-7B74-4E30-B822-CF0664466DB6}" type="datetimeFigureOut">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468299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B68F1D-7B74-4E30-B822-CF0664466DB6}" type="datetimeFigureOut">
              <a:rPr lang="en-IN" smtClean="0"/>
              <a:t>14-12-2025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318534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1995670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15163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116019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4164225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13797930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1736192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B68F1D-7B74-4E30-B822-CF0664466DB6}" type="datetimeFigureOut">
              <a:rPr lang="en-IN" smtClean="0"/>
              <a:t>14-12-2025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A88F28-5B70-4FB0-BD35-1742EA5E8267}" type="slidenum">
              <a:rPr lang="en-IN" smtClean="0"/>
              <a:t>‹#›</a:t>
            </a:fld>
            <a:endParaRPr lang="en-IN"/>
          </a:p>
        </p:txBody>
      </p:sp>
    </p:spTree>
    <p:extLst>
      <p:ext uri="{BB962C8B-B14F-4D97-AF65-F5344CB8AC3E}">
        <p14:creationId xmlns:p14="http://schemas.microsoft.com/office/powerpoint/2010/main" val="766473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3B68F1D-7B74-4E30-B822-CF0664466DB6}" type="datetimeFigureOut">
              <a:rPr lang="en-IN" smtClean="0"/>
              <a:t>14-12-2025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5A88F28-5B70-4FB0-BD35-1742EA5E8267}" type="slidenum">
              <a:rPr lang="en-IN" smtClean="0"/>
              <a:t>‹#›</a:t>
            </a:fld>
            <a:endParaRPr lang="en-IN"/>
          </a:p>
        </p:txBody>
      </p:sp>
    </p:spTree>
    <p:extLst>
      <p:ext uri="{BB962C8B-B14F-4D97-AF65-F5344CB8AC3E}">
        <p14:creationId xmlns:p14="http://schemas.microsoft.com/office/powerpoint/2010/main" val="337228146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37EFA-9629-B332-985F-EBF8EDBA116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9A50DA2-44D3-F933-1F83-3EEC5900E726}"/>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3D524AD0-333E-27C6-7CE9-C4C1C2352072}"/>
              </a:ext>
            </a:extLst>
          </p:cNvPr>
          <p:cNvSpPr/>
          <p:nvPr/>
        </p:nvSpPr>
        <p:spPr>
          <a:xfrm>
            <a:off x="608370" y="923330"/>
            <a:ext cx="10975259" cy="3847207"/>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What is AWS </a:t>
            </a:r>
            <a:r>
              <a:rPr lang="en-US" sz="4800" dirty="0" err="1">
                <a:solidFill>
                  <a:srgbClr val="FF0000"/>
                </a:solidFill>
                <a:latin typeface="Noto Sans JP"/>
              </a:rPr>
              <a:t>CodePipeline</a:t>
            </a:r>
            <a:r>
              <a:rPr lang="en-US" sz="4800" dirty="0">
                <a:solidFill>
                  <a:srgbClr val="FF0000"/>
                </a:solidFill>
                <a:latin typeface="Noto Sans JP"/>
              </a:rPr>
              <a:t>?</a:t>
            </a:r>
          </a:p>
          <a:p>
            <a:endParaRPr lang="en-US" sz="2800" dirty="0">
              <a:solidFill>
                <a:srgbClr val="FF0000"/>
              </a:solidFill>
              <a:latin typeface="Noto Sans JP"/>
            </a:endParaRPr>
          </a:p>
          <a:p>
            <a:r>
              <a:rPr lang="en-US" sz="2800" dirty="0">
                <a:solidFill>
                  <a:schemeClr val="bg1"/>
                </a:solidFill>
                <a:latin typeface="Noto Sans JP"/>
              </a:rPr>
              <a:t>An AWS </a:t>
            </a:r>
            <a:r>
              <a:rPr lang="en-US" sz="2800" dirty="0" err="1">
                <a:solidFill>
                  <a:schemeClr val="bg1"/>
                </a:solidFill>
                <a:latin typeface="Noto Sans JP"/>
              </a:rPr>
              <a:t>CodePipeline</a:t>
            </a:r>
            <a:r>
              <a:rPr lang="en-US" sz="2800" dirty="0">
                <a:solidFill>
                  <a:schemeClr val="bg1"/>
                </a:solidFill>
                <a:latin typeface="Noto Sans JP"/>
              </a:rPr>
              <a:t> for automating software releases (CI/CD) or AWS Data Pipeline for data processing, both creating workflows to move and transform data or code through defined stages (source, build, test, deploy) for consistent, reliable automation, integrating with various AWS and third-party tools. </a:t>
            </a:r>
            <a:br>
              <a:rPr lang="en-US" sz="2800" dirty="0">
                <a:solidFill>
                  <a:schemeClr val="bg1"/>
                </a:solidFill>
                <a:latin typeface="Noto Sans JP"/>
              </a:rPr>
            </a:br>
            <a:endParaRPr lang="en-US" sz="2800" dirty="0">
              <a:solidFill>
                <a:schemeClr val="bg1"/>
              </a:solidFill>
              <a:latin typeface="Noto Sans JP"/>
            </a:endParaRPr>
          </a:p>
        </p:txBody>
      </p:sp>
    </p:spTree>
    <p:extLst>
      <p:ext uri="{BB962C8B-B14F-4D97-AF65-F5344CB8AC3E}">
        <p14:creationId xmlns:p14="http://schemas.microsoft.com/office/powerpoint/2010/main" val="213524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EC1F4-4F02-A872-0694-323634564B2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3CDFC22-C0E9-FB2B-26B1-10887AD49245}"/>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64684735-F919-7BEA-0BE8-A9580E056407}"/>
              </a:ext>
            </a:extLst>
          </p:cNvPr>
          <p:cNvSpPr/>
          <p:nvPr/>
        </p:nvSpPr>
        <p:spPr>
          <a:xfrm>
            <a:off x="608370" y="923330"/>
            <a:ext cx="10975259" cy="5139869"/>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AWS </a:t>
            </a:r>
            <a:r>
              <a:rPr lang="en-US" sz="4800" dirty="0" err="1">
                <a:solidFill>
                  <a:srgbClr val="FF0000"/>
                </a:solidFill>
                <a:latin typeface="Noto Sans JP"/>
              </a:rPr>
              <a:t>CodePipeline</a:t>
            </a:r>
            <a:r>
              <a:rPr lang="en-US" sz="4800" dirty="0">
                <a:solidFill>
                  <a:srgbClr val="FF0000"/>
                </a:solidFill>
                <a:latin typeface="Noto Sans JP"/>
              </a:rPr>
              <a:t> (for Software Delivery)</a:t>
            </a:r>
          </a:p>
          <a:p>
            <a:endParaRPr lang="en-US" sz="2800" dirty="0">
              <a:solidFill>
                <a:srgbClr val="FF0000"/>
              </a:solidFill>
              <a:latin typeface="Noto Sans JP"/>
            </a:endParaRPr>
          </a:p>
          <a:p>
            <a:r>
              <a:rPr lang="en-US" sz="2800" dirty="0">
                <a:solidFill>
                  <a:schemeClr val="bg1"/>
                </a:solidFill>
                <a:latin typeface="Noto Sans JP"/>
              </a:rPr>
              <a:t>Purpose: Models, visualizes, and automates the steps to release software, ensuring consistent quality checks.</a:t>
            </a:r>
          </a:p>
          <a:p>
            <a:r>
              <a:rPr lang="en-US" sz="2800" dirty="0">
                <a:solidFill>
                  <a:schemeClr val="bg1"/>
                </a:solidFill>
                <a:latin typeface="Noto Sans JP"/>
              </a:rPr>
              <a:t>How it Works: Triggers automatically on code changes, moving artifacts through stages like:</a:t>
            </a:r>
          </a:p>
          <a:p>
            <a:r>
              <a:rPr lang="en-US" sz="2800" dirty="0">
                <a:solidFill>
                  <a:schemeClr val="bg1"/>
                </a:solidFill>
                <a:latin typeface="Noto Sans JP"/>
              </a:rPr>
              <a:t>Source: Pulls code from repositories (</a:t>
            </a:r>
            <a:r>
              <a:rPr lang="en-US" sz="2800" dirty="0" err="1">
                <a:solidFill>
                  <a:schemeClr val="bg1"/>
                </a:solidFill>
                <a:latin typeface="Noto Sans JP"/>
              </a:rPr>
              <a:t>CodeCommit</a:t>
            </a:r>
            <a:r>
              <a:rPr lang="en-US" sz="2800" dirty="0">
                <a:solidFill>
                  <a:schemeClr val="bg1"/>
                </a:solidFill>
                <a:latin typeface="Noto Sans JP"/>
              </a:rPr>
              <a:t>, GitHub).</a:t>
            </a:r>
          </a:p>
          <a:p>
            <a:r>
              <a:rPr lang="en-US" sz="2800" dirty="0">
                <a:solidFill>
                  <a:schemeClr val="bg1"/>
                </a:solidFill>
                <a:latin typeface="Noto Sans JP"/>
              </a:rPr>
              <a:t>Build: Compiles code (AWS </a:t>
            </a:r>
            <a:r>
              <a:rPr lang="en-US" sz="2800" dirty="0" err="1">
                <a:solidFill>
                  <a:schemeClr val="bg1"/>
                </a:solidFill>
                <a:latin typeface="Noto Sans JP"/>
              </a:rPr>
              <a:t>CodeBuild</a:t>
            </a:r>
            <a:r>
              <a:rPr lang="en-US" sz="2800" dirty="0">
                <a:solidFill>
                  <a:schemeClr val="bg1"/>
                </a:solidFill>
                <a:latin typeface="Noto Sans JP"/>
              </a:rPr>
              <a:t>).</a:t>
            </a:r>
          </a:p>
          <a:p>
            <a:r>
              <a:rPr lang="en-US" sz="2800" dirty="0">
                <a:solidFill>
                  <a:schemeClr val="bg1"/>
                </a:solidFill>
                <a:latin typeface="Noto Sans JP"/>
              </a:rPr>
              <a:t>Test: Runs tests.</a:t>
            </a:r>
          </a:p>
          <a:p>
            <a:r>
              <a:rPr lang="en-US" sz="2800" dirty="0">
                <a:solidFill>
                  <a:schemeClr val="bg1"/>
                </a:solidFill>
                <a:latin typeface="Noto Sans JP"/>
              </a:rPr>
              <a:t>Deploy: Deploys to environments (</a:t>
            </a:r>
            <a:r>
              <a:rPr lang="en-US" sz="2800" dirty="0" err="1">
                <a:solidFill>
                  <a:schemeClr val="bg1"/>
                </a:solidFill>
                <a:latin typeface="Noto Sans JP"/>
              </a:rPr>
              <a:t>CodeDeploy</a:t>
            </a:r>
            <a:r>
              <a:rPr lang="en-US" sz="2800" dirty="0">
                <a:solidFill>
                  <a:schemeClr val="bg1"/>
                </a:solidFill>
                <a:latin typeface="Noto Sans JP"/>
              </a:rPr>
              <a:t>, EC2, ECS).</a:t>
            </a:r>
            <a:br>
              <a:rPr lang="en-US" sz="2800" dirty="0">
                <a:solidFill>
                  <a:schemeClr val="bg1"/>
                </a:solidFill>
                <a:latin typeface="Noto Sans JP"/>
              </a:rPr>
            </a:br>
            <a:endParaRPr lang="en-US" sz="2800" dirty="0">
              <a:solidFill>
                <a:schemeClr val="bg1"/>
              </a:solidFill>
              <a:latin typeface="Noto Sans JP"/>
            </a:endParaRPr>
          </a:p>
        </p:txBody>
      </p:sp>
    </p:spTree>
    <p:extLst>
      <p:ext uri="{BB962C8B-B14F-4D97-AF65-F5344CB8AC3E}">
        <p14:creationId xmlns:p14="http://schemas.microsoft.com/office/powerpoint/2010/main" val="363972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A75B7-17AD-F532-A5A0-13BC7F81069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B9A8B3F-4E77-0140-1299-D2B1FDDBB8CE}"/>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BEDA7A20-D1A0-CD6E-9AC5-3A1582279B49}"/>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AWS </a:t>
            </a:r>
            <a:r>
              <a:rPr lang="en-US" sz="4800" dirty="0" err="1">
                <a:solidFill>
                  <a:srgbClr val="FF0000"/>
                </a:solidFill>
                <a:latin typeface="Noto Sans JP"/>
              </a:rPr>
              <a:t>CodePipeline</a:t>
            </a:r>
            <a:r>
              <a:rPr lang="en-US" sz="4800" dirty="0">
                <a:solidFill>
                  <a:srgbClr val="FF0000"/>
                </a:solidFill>
                <a:latin typeface="Noto Sans JP"/>
              </a:rPr>
              <a:t> (for Software Delivery)</a:t>
            </a:r>
          </a:p>
          <a:p>
            <a:endParaRPr lang="en-US" sz="2800" dirty="0">
              <a:solidFill>
                <a:srgbClr val="FF0000"/>
              </a:solidFill>
              <a:latin typeface="Noto Sans JP"/>
            </a:endParaRPr>
          </a:p>
          <a:p>
            <a:r>
              <a:rPr lang="en-US" sz="2800" dirty="0">
                <a:solidFill>
                  <a:schemeClr val="bg1"/>
                </a:solidFill>
                <a:latin typeface="Noto Sans JP"/>
              </a:rPr>
              <a:t>Purpose: Models, visualizes, and automates the steps to release software, ensuring consistent quality checks.</a:t>
            </a:r>
          </a:p>
          <a:p>
            <a:r>
              <a:rPr lang="en-US" sz="2800" dirty="0">
                <a:solidFill>
                  <a:schemeClr val="bg1"/>
                </a:solidFill>
                <a:latin typeface="Noto Sans JP"/>
              </a:rPr>
              <a:t>How it Works: Triggers automatically on code changes, moving artifacts through stages like:</a:t>
            </a:r>
          </a:p>
          <a:p>
            <a:r>
              <a:rPr lang="en-US" sz="2800" dirty="0">
                <a:solidFill>
                  <a:schemeClr val="bg1"/>
                </a:solidFill>
                <a:latin typeface="Noto Sans JP"/>
              </a:rPr>
              <a:t>Source: Pulls code from repositories (</a:t>
            </a:r>
            <a:r>
              <a:rPr lang="en-US" sz="2800" dirty="0" err="1">
                <a:solidFill>
                  <a:schemeClr val="bg1"/>
                </a:solidFill>
                <a:latin typeface="Noto Sans JP"/>
              </a:rPr>
              <a:t>CodeCommit</a:t>
            </a:r>
            <a:r>
              <a:rPr lang="en-US" sz="2800" dirty="0">
                <a:solidFill>
                  <a:schemeClr val="bg1"/>
                </a:solidFill>
                <a:latin typeface="Noto Sans JP"/>
              </a:rPr>
              <a:t>, GitHub).</a:t>
            </a:r>
          </a:p>
          <a:p>
            <a:r>
              <a:rPr lang="en-US" sz="2800" dirty="0">
                <a:solidFill>
                  <a:schemeClr val="bg1"/>
                </a:solidFill>
                <a:latin typeface="Noto Sans JP"/>
              </a:rPr>
              <a:t>Build: Compiles code (AWS </a:t>
            </a:r>
            <a:r>
              <a:rPr lang="en-US" sz="2800" dirty="0" err="1">
                <a:solidFill>
                  <a:schemeClr val="bg1"/>
                </a:solidFill>
                <a:latin typeface="Noto Sans JP"/>
              </a:rPr>
              <a:t>CodeBuild</a:t>
            </a:r>
            <a:r>
              <a:rPr lang="en-US" sz="2800" dirty="0">
                <a:solidFill>
                  <a:schemeClr val="bg1"/>
                </a:solidFill>
                <a:latin typeface="Noto Sans JP"/>
              </a:rPr>
              <a:t>).</a:t>
            </a:r>
          </a:p>
          <a:p>
            <a:r>
              <a:rPr lang="en-US" sz="2800" dirty="0">
                <a:solidFill>
                  <a:schemeClr val="bg1"/>
                </a:solidFill>
                <a:latin typeface="Noto Sans JP"/>
              </a:rPr>
              <a:t>Test: Runs tests.</a:t>
            </a:r>
          </a:p>
          <a:p>
            <a:r>
              <a:rPr lang="en-US" sz="2800" dirty="0">
                <a:solidFill>
                  <a:schemeClr val="bg1"/>
                </a:solidFill>
                <a:latin typeface="Noto Sans JP"/>
              </a:rPr>
              <a:t>Deploy: Deploys to environments (</a:t>
            </a:r>
            <a:r>
              <a:rPr lang="en-US" sz="2800" dirty="0" err="1">
                <a:solidFill>
                  <a:schemeClr val="bg1"/>
                </a:solidFill>
                <a:latin typeface="Noto Sans JP"/>
              </a:rPr>
              <a:t>CodeDeploy</a:t>
            </a:r>
            <a:r>
              <a:rPr lang="en-US" sz="2800" dirty="0">
                <a:solidFill>
                  <a:schemeClr val="bg1"/>
                </a:solidFill>
                <a:latin typeface="Noto Sans JP"/>
              </a:rPr>
              <a:t>, EC2, ECS).</a:t>
            </a:r>
            <a:br>
              <a:rPr lang="en-US" sz="2800" dirty="0">
                <a:solidFill>
                  <a:schemeClr val="bg1"/>
                </a:solidFill>
                <a:latin typeface="Noto Sans JP"/>
              </a:rPr>
            </a:br>
            <a:r>
              <a:rPr lang="en-US" sz="2800" b="1" dirty="0">
                <a:solidFill>
                  <a:schemeClr val="bg1"/>
                </a:solidFill>
                <a:latin typeface="Noto Sans JP"/>
              </a:rPr>
              <a:t>Key Feature</a:t>
            </a:r>
            <a:r>
              <a:rPr lang="en-US" sz="2800" dirty="0">
                <a:solidFill>
                  <a:schemeClr val="bg1"/>
                </a:solidFill>
                <a:latin typeface="Noto Sans JP"/>
              </a:rPr>
              <a:t>: Integrates with other AWS developer tools and third-party services (Jenkins, GitHub) for end-to-end automation. </a:t>
            </a:r>
          </a:p>
        </p:txBody>
      </p:sp>
    </p:spTree>
    <p:extLst>
      <p:ext uri="{BB962C8B-B14F-4D97-AF65-F5344CB8AC3E}">
        <p14:creationId xmlns:p14="http://schemas.microsoft.com/office/powerpoint/2010/main" val="3886505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AF503-AB4F-713D-B648-61478273F95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F21AFDA-C200-9C66-C48E-8043288F223F}"/>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7F017548-C10A-E267-0CBF-D8B8D7ACDA51}"/>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AWS </a:t>
            </a:r>
            <a:r>
              <a:rPr lang="en-US" sz="4800" dirty="0" err="1">
                <a:solidFill>
                  <a:srgbClr val="FF0000"/>
                </a:solidFill>
                <a:latin typeface="Noto Sans JP"/>
              </a:rPr>
              <a:t>CodePipeline</a:t>
            </a:r>
            <a:r>
              <a:rPr lang="en-US" sz="4800" dirty="0">
                <a:solidFill>
                  <a:srgbClr val="FF0000"/>
                </a:solidFill>
                <a:latin typeface="Noto Sans JP"/>
              </a:rPr>
              <a:t> (for Software Delivery)</a:t>
            </a:r>
          </a:p>
          <a:p>
            <a:endParaRPr lang="en-US" sz="2800" dirty="0">
              <a:solidFill>
                <a:srgbClr val="FF0000"/>
              </a:solidFill>
              <a:latin typeface="Noto Sans JP"/>
            </a:endParaRPr>
          </a:p>
          <a:p>
            <a:r>
              <a:rPr lang="en-US" sz="2800" dirty="0">
                <a:solidFill>
                  <a:schemeClr val="bg1"/>
                </a:solidFill>
                <a:latin typeface="Noto Sans JP"/>
              </a:rPr>
              <a:t>Purpose: Models, visualizes, and automates the steps to release software, ensuring consistent quality checks.</a:t>
            </a:r>
          </a:p>
          <a:p>
            <a:r>
              <a:rPr lang="en-US" sz="2800" dirty="0">
                <a:solidFill>
                  <a:schemeClr val="bg1"/>
                </a:solidFill>
                <a:latin typeface="Noto Sans JP"/>
              </a:rPr>
              <a:t>How it Works: Triggers automatically on code changes, moving artifacts through stages like:</a:t>
            </a:r>
          </a:p>
          <a:p>
            <a:r>
              <a:rPr lang="en-US" sz="2800" dirty="0">
                <a:solidFill>
                  <a:schemeClr val="bg1"/>
                </a:solidFill>
                <a:latin typeface="Noto Sans JP"/>
              </a:rPr>
              <a:t>Source: Pulls code from repositories (</a:t>
            </a:r>
            <a:r>
              <a:rPr lang="en-US" sz="2800" dirty="0" err="1">
                <a:solidFill>
                  <a:schemeClr val="bg1"/>
                </a:solidFill>
                <a:latin typeface="Noto Sans JP"/>
              </a:rPr>
              <a:t>CodeCommit</a:t>
            </a:r>
            <a:r>
              <a:rPr lang="en-US" sz="2800" dirty="0">
                <a:solidFill>
                  <a:schemeClr val="bg1"/>
                </a:solidFill>
                <a:latin typeface="Noto Sans JP"/>
              </a:rPr>
              <a:t>, GitHub).</a:t>
            </a:r>
          </a:p>
          <a:p>
            <a:r>
              <a:rPr lang="en-US" sz="2800" dirty="0">
                <a:solidFill>
                  <a:schemeClr val="bg1"/>
                </a:solidFill>
                <a:latin typeface="Noto Sans JP"/>
              </a:rPr>
              <a:t>Build: Compiles code (AWS </a:t>
            </a:r>
            <a:r>
              <a:rPr lang="en-US" sz="2800" dirty="0" err="1">
                <a:solidFill>
                  <a:schemeClr val="bg1"/>
                </a:solidFill>
                <a:latin typeface="Noto Sans JP"/>
              </a:rPr>
              <a:t>CodeBuild</a:t>
            </a:r>
            <a:r>
              <a:rPr lang="en-US" sz="2800" dirty="0">
                <a:solidFill>
                  <a:schemeClr val="bg1"/>
                </a:solidFill>
                <a:latin typeface="Noto Sans JP"/>
              </a:rPr>
              <a:t>).</a:t>
            </a:r>
          </a:p>
          <a:p>
            <a:r>
              <a:rPr lang="en-US" sz="2800" dirty="0">
                <a:solidFill>
                  <a:schemeClr val="bg1"/>
                </a:solidFill>
                <a:latin typeface="Noto Sans JP"/>
              </a:rPr>
              <a:t>Test: Runs tests.</a:t>
            </a:r>
          </a:p>
          <a:p>
            <a:r>
              <a:rPr lang="en-US" sz="2800" dirty="0">
                <a:solidFill>
                  <a:schemeClr val="bg1"/>
                </a:solidFill>
                <a:latin typeface="Noto Sans JP"/>
              </a:rPr>
              <a:t>Deploy: Deploys to environments (</a:t>
            </a:r>
            <a:r>
              <a:rPr lang="en-US" sz="2800" dirty="0" err="1">
                <a:solidFill>
                  <a:schemeClr val="bg1"/>
                </a:solidFill>
                <a:latin typeface="Noto Sans JP"/>
              </a:rPr>
              <a:t>CodeDeploy</a:t>
            </a:r>
            <a:r>
              <a:rPr lang="en-US" sz="2800" dirty="0">
                <a:solidFill>
                  <a:schemeClr val="bg1"/>
                </a:solidFill>
                <a:latin typeface="Noto Sans JP"/>
              </a:rPr>
              <a:t>, EC2, ECS).</a:t>
            </a:r>
            <a:br>
              <a:rPr lang="en-US" sz="2800" dirty="0">
                <a:solidFill>
                  <a:schemeClr val="bg1"/>
                </a:solidFill>
                <a:latin typeface="Noto Sans JP"/>
              </a:rPr>
            </a:br>
            <a:r>
              <a:rPr lang="en-US" sz="2800" b="1" dirty="0">
                <a:solidFill>
                  <a:schemeClr val="bg1"/>
                </a:solidFill>
                <a:latin typeface="Noto Sans JP"/>
              </a:rPr>
              <a:t>Key Feature</a:t>
            </a:r>
            <a:r>
              <a:rPr lang="en-US" sz="2800" dirty="0">
                <a:solidFill>
                  <a:schemeClr val="bg1"/>
                </a:solidFill>
                <a:latin typeface="Noto Sans JP"/>
              </a:rPr>
              <a:t>: Integrates with other AWS developer tools and third-party services (Jenkins, GitHub) for end-to-end automation. </a:t>
            </a:r>
          </a:p>
        </p:txBody>
      </p:sp>
    </p:spTree>
    <p:extLst>
      <p:ext uri="{BB962C8B-B14F-4D97-AF65-F5344CB8AC3E}">
        <p14:creationId xmlns:p14="http://schemas.microsoft.com/office/powerpoint/2010/main" val="332289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38558-6DAE-8923-68CB-8E2F43A66CD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57739AA-155E-6F2A-00F9-9534F313C9C3}"/>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BDA58997-1CAD-BB0B-BF7C-D968E29135CE}"/>
              </a:ext>
            </a:extLst>
          </p:cNvPr>
          <p:cNvSpPr/>
          <p:nvPr/>
        </p:nvSpPr>
        <p:spPr>
          <a:xfrm>
            <a:off x="608370" y="923330"/>
            <a:ext cx="10975259" cy="3416320"/>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CICD pipeline overview</a:t>
            </a:r>
            <a:endParaRPr lang="en-US" sz="2800" dirty="0">
              <a:solidFill>
                <a:srgbClr val="FF0000"/>
              </a:solidFill>
              <a:latin typeface="Noto Sans JP"/>
            </a:endParaRPr>
          </a:p>
          <a:p>
            <a:br>
              <a:rPr lang="en-US" sz="2800" dirty="0">
                <a:solidFill>
                  <a:schemeClr val="bg1"/>
                </a:solidFill>
                <a:latin typeface="Noto Sans JP"/>
              </a:rPr>
            </a:br>
            <a:r>
              <a:rPr lang="en-US" sz="2800" dirty="0">
                <a:solidFill>
                  <a:schemeClr val="bg1"/>
                </a:solidFill>
                <a:latin typeface="Noto Sans JP"/>
              </a:rPr>
              <a:t>AWS brings in a complete set of CI/CD developer tools to accelerate software development and release cycles. AWS </a:t>
            </a:r>
            <a:r>
              <a:rPr lang="en-US" sz="2800" dirty="0" err="1">
                <a:solidFill>
                  <a:schemeClr val="bg1"/>
                </a:solidFill>
                <a:latin typeface="Noto Sans JP"/>
              </a:rPr>
              <a:t>CodePipeline</a:t>
            </a:r>
            <a:r>
              <a:rPr lang="en-US" sz="2800" dirty="0">
                <a:solidFill>
                  <a:schemeClr val="bg1"/>
                </a:solidFill>
                <a:latin typeface="Noto Sans JP"/>
              </a:rPr>
              <a:t> automates the build, test, and deploy phases of the release process every time there is a code change, based on the defined release model. This enables the rapid and reliable delivery of features and updates.</a:t>
            </a:r>
          </a:p>
        </p:txBody>
      </p:sp>
    </p:spTree>
    <p:extLst>
      <p:ext uri="{BB962C8B-B14F-4D97-AF65-F5344CB8AC3E}">
        <p14:creationId xmlns:p14="http://schemas.microsoft.com/office/powerpoint/2010/main" val="880045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A1334-94AD-11FE-BBA5-ECDF5B15701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02DDAEB-FFA2-859C-9C34-1ABBBA9CFFF5}"/>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5208DA6E-9AFD-BD28-A2C6-C974AB96E2D0}"/>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CICD pipeline overview</a:t>
            </a:r>
            <a:endParaRPr lang="en-US" sz="2800" dirty="0">
              <a:solidFill>
                <a:srgbClr val="FF0000"/>
              </a:solidFill>
              <a:latin typeface="Noto Sans JP"/>
            </a:endParaRPr>
          </a:p>
          <a:p>
            <a:br>
              <a:rPr lang="en-US" sz="2800" dirty="0">
                <a:solidFill>
                  <a:schemeClr val="bg1"/>
                </a:solidFill>
                <a:latin typeface="Noto Sans JP"/>
              </a:rPr>
            </a:br>
            <a:endParaRPr lang="en-US" sz="2800" dirty="0">
              <a:solidFill>
                <a:schemeClr val="bg1"/>
              </a:solidFill>
              <a:latin typeface="Noto Sans JP"/>
            </a:endParaRPr>
          </a:p>
          <a:p>
            <a:endParaRPr lang="en-US" sz="2800" dirty="0">
              <a:solidFill>
                <a:schemeClr val="bg1"/>
              </a:solidFill>
              <a:latin typeface="Noto Sans JP"/>
            </a:endParaRPr>
          </a:p>
          <a:p>
            <a:endParaRPr lang="en-US" sz="2800" dirty="0">
              <a:solidFill>
                <a:schemeClr val="bg1"/>
              </a:solidFill>
              <a:latin typeface="Noto Sans JP"/>
            </a:endParaRPr>
          </a:p>
          <a:p>
            <a:endParaRPr lang="en-US" sz="2800" dirty="0">
              <a:solidFill>
                <a:schemeClr val="bg1"/>
              </a:solidFill>
              <a:latin typeface="Noto Sans JP"/>
            </a:endParaRPr>
          </a:p>
          <a:p>
            <a:endParaRPr lang="en-US" sz="2800" dirty="0">
              <a:solidFill>
                <a:schemeClr val="bg1"/>
              </a:solidFill>
              <a:latin typeface="Noto Sans JP"/>
            </a:endParaRPr>
          </a:p>
          <a:p>
            <a:endParaRPr lang="en-US" sz="2800" dirty="0">
              <a:solidFill>
                <a:schemeClr val="bg1"/>
              </a:solidFill>
              <a:latin typeface="Noto Sans JP"/>
            </a:endParaRPr>
          </a:p>
          <a:p>
            <a:endParaRPr lang="en-US" sz="2800" dirty="0">
              <a:solidFill>
                <a:schemeClr val="bg1"/>
              </a:solidFill>
              <a:latin typeface="Noto Sans JP"/>
            </a:endParaRPr>
          </a:p>
          <a:p>
            <a:endParaRPr lang="en-US" sz="2800" dirty="0">
              <a:solidFill>
                <a:schemeClr val="bg1"/>
              </a:solidFill>
              <a:latin typeface="Noto Sans JP"/>
            </a:endParaRPr>
          </a:p>
          <a:p>
            <a:endParaRPr lang="en-US" sz="2800" dirty="0">
              <a:solidFill>
                <a:schemeClr val="bg1"/>
              </a:solidFill>
              <a:latin typeface="Noto Sans JP"/>
            </a:endParaRPr>
          </a:p>
          <a:p>
            <a:endParaRPr lang="en-US" sz="2800" dirty="0">
              <a:solidFill>
                <a:schemeClr val="bg1"/>
              </a:solidFill>
              <a:latin typeface="Noto Sans JP"/>
            </a:endParaRPr>
          </a:p>
        </p:txBody>
      </p:sp>
      <p:pic>
        <p:nvPicPr>
          <p:cNvPr id="4" name="Picture 3" descr="A diagram of a software development&#10;&#10;AI-generated content may be incorrect.">
            <a:extLst>
              <a:ext uri="{FF2B5EF4-FFF2-40B4-BE49-F238E27FC236}">
                <a16:creationId xmlns:a16="http://schemas.microsoft.com/office/drawing/2014/main" id="{EBEF7BF6-4235-E293-358B-B99DAC4EDE23}"/>
              </a:ext>
            </a:extLst>
          </p:cNvPr>
          <p:cNvPicPr>
            <a:picLocks noChangeAspect="1"/>
          </p:cNvPicPr>
          <p:nvPr/>
        </p:nvPicPr>
        <p:blipFill>
          <a:blip r:embed="rId2"/>
          <a:stretch>
            <a:fillRect/>
          </a:stretch>
        </p:blipFill>
        <p:spPr>
          <a:xfrm>
            <a:off x="930787" y="1903506"/>
            <a:ext cx="10072334" cy="3610403"/>
          </a:xfrm>
          <a:prstGeom prst="rect">
            <a:avLst/>
          </a:prstGeom>
        </p:spPr>
      </p:pic>
    </p:spTree>
    <p:extLst>
      <p:ext uri="{BB962C8B-B14F-4D97-AF65-F5344CB8AC3E}">
        <p14:creationId xmlns:p14="http://schemas.microsoft.com/office/powerpoint/2010/main" val="2653251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8FB0-780B-D7BB-610E-B7C9B3CD7DB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FEE5990-AAAA-59FC-539D-87B777673BF5}"/>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12AC770C-4E37-2747-7046-FA8DBCA36E05}"/>
              </a:ext>
            </a:extLst>
          </p:cNvPr>
          <p:cNvSpPr/>
          <p:nvPr/>
        </p:nvSpPr>
        <p:spPr>
          <a:xfrm>
            <a:off x="608370" y="923330"/>
            <a:ext cx="10975259" cy="5139869"/>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br>
              <a:rPr lang="en-US" sz="2800" dirty="0">
                <a:solidFill>
                  <a:schemeClr val="bg1"/>
                </a:solidFill>
                <a:latin typeface="Noto Sans JP"/>
              </a:rPr>
            </a:br>
            <a:endParaRPr lang="en-US" sz="2800" dirty="0">
              <a:solidFill>
                <a:schemeClr val="bg1"/>
              </a:solidFill>
              <a:latin typeface="Noto Sans JP"/>
            </a:endParaRPr>
          </a:p>
          <a:p>
            <a:r>
              <a:rPr lang="en-US" sz="2800" dirty="0">
                <a:solidFill>
                  <a:schemeClr val="bg1"/>
                </a:solidFill>
                <a:latin typeface="Noto Sans JP"/>
              </a:rPr>
              <a:t>In an AWS CI/CD pipeline, </a:t>
            </a:r>
            <a:r>
              <a:rPr lang="en-US" sz="2800" dirty="0" err="1">
                <a:solidFill>
                  <a:schemeClr val="bg1"/>
                </a:solidFill>
                <a:latin typeface="Noto Sans JP"/>
              </a:rPr>
              <a:t>buildspec</a:t>
            </a:r>
            <a:r>
              <a:rPr lang="en-US" sz="2800" dirty="0">
                <a:solidFill>
                  <a:schemeClr val="bg1"/>
                </a:solidFill>
                <a:latin typeface="Noto Sans JP"/>
              </a:rPr>
              <a:t> and </a:t>
            </a:r>
            <a:r>
              <a:rPr lang="en-US" sz="2800" dirty="0" err="1">
                <a:solidFill>
                  <a:schemeClr val="bg1"/>
                </a:solidFill>
                <a:latin typeface="Noto Sans JP"/>
              </a:rPr>
              <a:t>appspec</a:t>
            </a:r>
            <a:r>
              <a:rPr lang="en-US" sz="2800" dirty="0">
                <a:solidFill>
                  <a:schemeClr val="bg1"/>
                </a:solidFill>
                <a:latin typeface="Noto Sans JP"/>
              </a:rPr>
              <a:t> are configuration files that tell different AWS services exactly how to handle your code during the build and deployment phases.</a:t>
            </a:r>
            <a:br>
              <a:rPr lang="en-US" sz="2800" dirty="0">
                <a:solidFill>
                  <a:schemeClr val="bg1"/>
                </a:solidFill>
                <a:latin typeface="Noto Sans JP"/>
              </a:rPr>
            </a:br>
            <a:br>
              <a:rPr lang="en-US" sz="2800" dirty="0">
                <a:solidFill>
                  <a:schemeClr val="bg1"/>
                </a:solidFill>
                <a:latin typeface="Noto Sans JP"/>
              </a:rPr>
            </a:br>
            <a:r>
              <a:rPr lang="en-US" sz="2800" b="1" dirty="0">
                <a:solidFill>
                  <a:schemeClr val="bg1"/>
                </a:solidFill>
                <a:latin typeface="Noto Sans JP"/>
              </a:rPr>
              <a:t>1. </a:t>
            </a:r>
            <a:r>
              <a:rPr lang="en-US" sz="2800" b="1" dirty="0" err="1">
                <a:solidFill>
                  <a:schemeClr val="bg1"/>
                </a:solidFill>
                <a:latin typeface="Noto Sans JP"/>
              </a:rPr>
              <a:t>Buildspec</a:t>
            </a:r>
            <a:r>
              <a:rPr lang="en-US" sz="2800" b="1" dirty="0">
                <a:solidFill>
                  <a:schemeClr val="bg1"/>
                </a:solidFill>
                <a:latin typeface="Noto Sans JP"/>
              </a:rPr>
              <a:t> (</a:t>
            </a:r>
            <a:r>
              <a:rPr lang="en-US" sz="2800" b="1" dirty="0" err="1">
                <a:solidFill>
                  <a:schemeClr val="bg1"/>
                </a:solidFill>
                <a:latin typeface="Noto Sans JP"/>
              </a:rPr>
              <a:t>buildspec.yml</a:t>
            </a:r>
            <a:r>
              <a:rPr lang="en-US" sz="2800" b="1" dirty="0">
                <a:solidFill>
                  <a:schemeClr val="bg1"/>
                </a:solidFill>
                <a:latin typeface="Noto Sans JP"/>
              </a:rPr>
              <a:t>)</a:t>
            </a:r>
            <a:br>
              <a:rPr lang="en-US" sz="2800" dirty="0">
                <a:solidFill>
                  <a:schemeClr val="bg1"/>
                </a:solidFill>
                <a:latin typeface="Noto Sans JP"/>
              </a:rPr>
            </a:br>
            <a:r>
              <a:rPr lang="en-US" sz="2800" dirty="0">
                <a:solidFill>
                  <a:schemeClr val="bg1"/>
                </a:solidFill>
                <a:latin typeface="Noto Sans JP"/>
              </a:rPr>
              <a:t>The </a:t>
            </a:r>
            <a:r>
              <a:rPr lang="en-US" sz="2800" dirty="0" err="1">
                <a:solidFill>
                  <a:schemeClr val="bg1"/>
                </a:solidFill>
                <a:latin typeface="Noto Sans JP"/>
              </a:rPr>
              <a:t>Buildspec</a:t>
            </a:r>
            <a:r>
              <a:rPr lang="en-US" sz="2800" dirty="0">
                <a:solidFill>
                  <a:schemeClr val="bg1"/>
                </a:solidFill>
                <a:latin typeface="Noto Sans JP"/>
              </a:rPr>
              <a:t> file is used by AWS </a:t>
            </a:r>
            <a:r>
              <a:rPr lang="en-US" sz="2800" dirty="0" err="1">
                <a:solidFill>
                  <a:schemeClr val="bg1"/>
                </a:solidFill>
                <a:latin typeface="Noto Sans JP"/>
              </a:rPr>
              <a:t>CodeBuild</a:t>
            </a:r>
            <a:r>
              <a:rPr lang="en-US" sz="2800" dirty="0">
                <a:solidFill>
                  <a:schemeClr val="bg1"/>
                </a:solidFill>
                <a:latin typeface="Noto Sans JP"/>
              </a:rPr>
              <a:t>. It contains the set of instructions that </a:t>
            </a:r>
            <a:r>
              <a:rPr lang="en-US" sz="2800" dirty="0" err="1">
                <a:solidFill>
                  <a:schemeClr val="bg1"/>
                </a:solidFill>
                <a:latin typeface="Noto Sans JP"/>
              </a:rPr>
              <a:t>CodeBuild</a:t>
            </a:r>
            <a:r>
              <a:rPr lang="en-US" sz="2800" dirty="0">
                <a:solidFill>
                  <a:schemeClr val="bg1"/>
                </a:solidFill>
                <a:latin typeface="Noto Sans JP"/>
              </a:rPr>
              <a:t> uses to compile your code, run tests, and package your application into a deployable format (an "artifact").</a:t>
            </a:r>
          </a:p>
          <a:p>
            <a:endParaRPr lang="en-US" sz="2800" dirty="0">
              <a:solidFill>
                <a:schemeClr val="bg1"/>
              </a:solidFill>
              <a:latin typeface="Noto Sans JP"/>
            </a:endParaRPr>
          </a:p>
        </p:txBody>
      </p:sp>
    </p:spTree>
    <p:extLst>
      <p:ext uri="{BB962C8B-B14F-4D97-AF65-F5344CB8AC3E}">
        <p14:creationId xmlns:p14="http://schemas.microsoft.com/office/powerpoint/2010/main" val="2707933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22DC8-5B33-5809-2F0F-692773A623E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BC244C3-CF40-069D-5936-5484A3BB2A7F}"/>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BBA754B2-A42E-5E9A-DDBB-0A00E3AF8586}"/>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dirty="0">
                <a:solidFill>
                  <a:schemeClr val="bg1"/>
                </a:solidFill>
                <a:latin typeface="Noto Sans JP"/>
              </a:rPr>
            </a:br>
            <a:r>
              <a:rPr lang="en-US" sz="2800" b="1" dirty="0">
                <a:solidFill>
                  <a:schemeClr val="bg1"/>
                </a:solidFill>
                <a:latin typeface="Noto Sans JP"/>
              </a:rPr>
              <a:t>Location:</a:t>
            </a:r>
            <a:r>
              <a:rPr lang="en-US" sz="2800" dirty="0">
                <a:solidFill>
                  <a:schemeClr val="bg1"/>
                </a:solidFill>
                <a:latin typeface="Noto Sans JP"/>
              </a:rPr>
              <a:t> Must be in the root directory of your source code.</a:t>
            </a:r>
          </a:p>
          <a:p>
            <a:r>
              <a:rPr lang="en-US" sz="2800" b="1" dirty="0">
                <a:solidFill>
                  <a:schemeClr val="bg1"/>
                </a:solidFill>
                <a:latin typeface="Noto Sans JP"/>
              </a:rPr>
              <a:t>Key Phases:</a:t>
            </a:r>
          </a:p>
          <a:p>
            <a:r>
              <a:rPr lang="en-US" sz="2800" b="1" dirty="0">
                <a:solidFill>
                  <a:schemeClr val="bg1"/>
                </a:solidFill>
                <a:latin typeface="Noto Sans JP"/>
              </a:rPr>
              <a:t>Install: </a:t>
            </a:r>
            <a:r>
              <a:rPr lang="en-US" sz="2800" dirty="0">
                <a:solidFill>
                  <a:schemeClr val="bg1"/>
                </a:solidFill>
                <a:latin typeface="Noto Sans JP"/>
              </a:rPr>
              <a:t>Used to install dependencies (e.g., </a:t>
            </a:r>
            <a:r>
              <a:rPr lang="en-US" sz="2800" dirty="0" err="1">
                <a:solidFill>
                  <a:schemeClr val="bg1"/>
                </a:solidFill>
                <a:latin typeface="Noto Sans JP"/>
              </a:rPr>
              <a:t>npm</a:t>
            </a:r>
            <a:r>
              <a:rPr lang="en-US" sz="2800" dirty="0">
                <a:solidFill>
                  <a:schemeClr val="bg1"/>
                </a:solidFill>
                <a:latin typeface="Noto Sans JP"/>
              </a:rPr>
              <a:t> install or pip install).</a:t>
            </a:r>
          </a:p>
          <a:p>
            <a:r>
              <a:rPr lang="en-US" sz="2800" b="1" dirty="0">
                <a:solidFill>
                  <a:schemeClr val="bg1"/>
                </a:solidFill>
                <a:latin typeface="Noto Sans JP"/>
              </a:rPr>
              <a:t>Pre-build: </a:t>
            </a:r>
            <a:r>
              <a:rPr lang="en-US" sz="2800" dirty="0">
                <a:solidFill>
                  <a:schemeClr val="bg1"/>
                </a:solidFill>
                <a:latin typeface="Noto Sans JP"/>
              </a:rPr>
              <a:t>Commands to run before the main build, such as logging into Amazon ECR.</a:t>
            </a:r>
          </a:p>
          <a:p>
            <a:r>
              <a:rPr lang="en-US" sz="2800" b="1" dirty="0">
                <a:solidFill>
                  <a:schemeClr val="bg1"/>
                </a:solidFill>
                <a:latin typeface="Noto Sans JP"/>
              </a:rPr>
              <a:t>Build: </a:t>
            </a:r>
            <a:r>
              <a:rPr lang="en-US" sz="2800" dirty="0">
                <a:solidFill>
                  <a:schemeClr val="bg1"/>
                </a:solidFill>
                <a:latin typeface="Noto Sans JP"/>
              </a:rPr>
              <a:t>The actual compilation or packaging commands (e.g., </a:t>
            </a:r>
            <a:r>
              <a:rPr lang="en-US" sz="2800" dirty="0" err="1">
                <a:solidFill>
                  <a:schemeClr val="bg1"/>
                </a:solidFill>
                <a:latin typeface="Noto Sans JP"/>
              </a:rPr>
              <a:t>mvn</a:t>
            </a:r>
            <a:r>
              <a:rPr lang="en-US" sz="2800" dirty="0">
                <a:solidFill>
                  <a:schemeClr val="bg1"/>
                </a:solidFill>
                <a:latin typeface="Noto Sans JP"/>
              </a:rPr>
              <a:t> package or docker build).</a:t>
            </a:r>
          </a:p>
          <a:p>
            <a:r>
              <a:rPr lang="en-US" sz="2800" b="1" dirty="0">
                <a:solidFill>
                  <a:schemeClr val="bg1"/>
                </a:solidFill>
                <a:latin typeface="Noto Sans JP"/>
              </a:rPr>
              <a:t>Post-build: </a:t>
            </a:r>
            <a:r>
              <a:rPr lang="en-US" sz="2800" dirty="0">
                <a:solidFill>
                  <a:schemeClr val="bg1"/>
                </a:solidFill>
                <a:latin typeface="Noto Sans JP"/>
              </a:rPr>
              <a:t>Final cleanup, tagging, or pushing artifacts to S3 or ECR.</a:t>
            </a:r>
          </a:p>
          <a:p>
            <a:r>
              <a:rPr lang="en-US" sz="2800" b="1" dirty="0">
                <a:solidFill>
                  <a:schemeClr val="bg1"/>
                </a:solidFill>
                <a:latin typeface="Noto Sans JP"/>
              </a:rPr>
              <a:t>Artifacts: </a:t>
            </a:r>
            <a:r>
              <a:rPr lang="en-US" sz="2800" dirty="0">
                <a:solidFill>
                  <a:schemeClr val="bg1"/>
                </a:solidFill>
                <a:latin typeface="Noto Sans JP"/>
              </a:rPr>
              <a:t>This section tells </a:t>
            </a:r>
            <a:r>
              <a:rPr lang="en-US" sz="2800" dirty="0" err="1">
                <a:solidFill>
                  <a:schemeClr val="bg1"/>
                </a:solidFill>
                <a:latin typeface="Noto Sans JP"/>
              </a:rPr>
              <a:t>CodeBuild</a:t>
            </a:r>
            <a:r>
              <a:rPr lang="en-US" sz="2800" dirty="0">
                <a:solidFill>
                  <a:schemeClr val="bg1"/>
                </a:solidFill>
                <a:latin typeface="Noto Sans JP"/>
              </a:rPr>
              <a:t> which files to save and pass on to the deployment stage.</a:t>
            </a:r>
          </a:p>
        </p:txBody>
      </p:sp>
    </p:spTree>
    <p:extLst>
      <p:ext uri="{BB962C8B-B14F-4D97-AF65-F5344CB8AC3E}">
        <p14:creationId xmlns:p14="http://schemas.microsoft.com/office/powerpoint/2010/main" val="3529271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29135-C968-F3E1-7318-C1B400D5B29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DCCD527-B84C-984F-80AB-0322A52FFB0C}"/>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FE2F07A2-E014-3E85-C772-F76B7E34DFEF}"/>
              </a:ext>
            </a:extLst>
          </p:cNvPr>
          <p:cNvSpPr/>
          <p:nvPr/>
        </p:nvSpPr>
        <p:spPr>
          <a:xfrm>
            <a:off x="608370" y="923330"/>
            <a:ext cx="10975259" cy="4278094"/>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dirty="0">
                <a:solidFill>
                  <a:schemeClr val="bg1"/>
                </a:solidFill>
                <a:latin typeface="Noto Sans JP"/>
              </a:rPr>
            </a:br>
            <a:r>
              <a:rPr lang="en-US" sz="2800" b="1" dirty="0">
                <a:solidFill>
                  <a:schemeClr val="bg1"/>
                </a:solidFill>
                <a:latin typeface="Noto Sans JP"/>
              </a:rPr>
              <a:t>2. </a:t>
            </a:r>
            <a:r>
              <a:rPr lang="en-US" sz="2800" b="1" dirty="0" err="1">
                <a:solidFill>
                  <a:schemeClr val="bg1"/>
                </a:solidFill>
                <a:latin typeface="Noto Sans JP"/>
              </a:rPr>
              <a:t>AppSpec</a:t>
            </a:r>
            <a:r>
              <a:rPr lang="en-US" sz="2800" b="1" dirty="0">
                <a:solidFill>
                  <a:schemeClr val="bg1"/>
                </a:solidFill>
                <a:latin typeface="Noto Sans JP"/>
              </a:rPr>
              <a:t> (</a:t>
            </a:r>
            <a:r>
              <a:rPr lang="en-US" sz="2800" b="1" dirty="0" err="1">
                <a:solidFill>
                  <a:schemeClr val="bg1"/>
                </a:solidFill>
                <a:latin typeface="Noto Sans JP"/>
              </a:rPr>
              <a:t>appspec.yml</a:t>
            </a:r>
            <a:r>
              <a:rPr lang="en-US" sz="2800" b="1" dirty="0">
                <a:solidFill>
                  <a:schemeClr val="bg1"/>
                </a:solidFill>
                <a:latin typeface="Noto Sans JP"/>
              </a:rPr>
              <a:t>)</a:t>
            </a:r>
            <a:br>
              <a:rPr lang="en-US" sz="2800" b="1" dirty="0">
                <a:solidFill>
                  <a:schemeClr val="bg1"/>
                </a:solidFill>
                <a:latin typeface="Noto Sans JP"/>
              </a:rPr>
            </a:br>
            <a:r>
              <a:rPr lang="en-US" sz="2800" dirty="0">
                <a:solidFill>
                  <a:schemeClr val="bg1"/>
                </a:solidFill>
                <a:latin typeface="Noto Sans JP"/>
              </a:rPr>
              <a:t>The </a:t>
            </a:r>
            <a:r>
              <a:rPr lang="en-US" sz="2800" dirty="0" err="1">
                <a:solidFill>
                  <a:schemeClr val="bg1"/>
                </a:solidFill>
                <a:latin typeface="Noto Sans JP"/>
              </a:rPr>
              <a:t>AppSpec</a:t>
            </a:r>
            <a:r>
              <a:rPr lang="en-US" sz="2800" dirty="0">
                <a:solidFill>
                  <a:schemeClr val="bg1"/>
                </a:solidFill>
                <a:latin typeface="Noto Sans JP"/>
              </a:rPr>
              <a:t> (Application Specification) file is used by AWS </a:t>
            </a:r>
            <a:r>
              <a:rPr lang="en-US" sz="2800" dirty="0" err="1">
                <a:solidFill>
                  <a:schemeClr val="bg1"/>
                </a:solidFill>
                <a:latin typeface="Noto Sans JP"/>
              </a:rPr>
              <a:t>CodeDeploy</a:t>
            </a:r>
            <a:r>
              <a:rPr lang="en-US" sz="2800" dirty="0">
                <a:solidFill>
                  <a:schemeClr val="bg1"/>
                </a:solidFill>
                <a:latin typeface="Noto Sans JP"/>
              </a:rPr>
              <a:t>. It defines how the application should be installed on your target servers (EC2, Lambda, or ECS) and what scripts to run at various points during the deployment. </a:t>
            </a:r>
            <a:br>
              <a:rPr lang="en-US" sz="2800" dirty="0">
                <a:solidFill>
                  <a:schemeClr val="bg1"/>
                </a:solidFill>
                <a:latin typeface="Noto Sans JP"/>
              </a:rPr>
            </a:br>
            <a:br>
              <a:rPr lang="en-US" sz="2800" dirty="0">
                <a:solidFill>
                  <a:schemeClr val="bg1"/>
                </a:solidFill>
                <a:latin typeface="Noto Sans JP"/>
              </a:rPr>
            </a:br>
            <a:endParaRPr lang="en-US" sz="2800" dirty="0">
              <a:solidFill>
                <a:schemeClr val="bg1"/>
              </a:solidFill>
              <a:latin typeface="Noto Sans JP"/>
            </a:endParaRPr>
          </a:p>
        </p:txBody>
      </p:sp>
    </p:spTree>
    <p:extLst>
      <p:ext uri="{BB962C8B-B14F-4D97-AF65-F5344CB8AC3E}">
        <p14:creationId xmlns:p14="http://schemas.microsoft.com/office/powerpoint/2010/main" val="911380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BC3BF-4A14-394C-9E63-7A7EA52602F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A808699-2426-F3EA-1563-0383A072E0B3}"/>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921E7658-082C-B3CF-A382-058276907051}"/>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a:solidFill>
                  <a:schemeClr val="bg1"/>
                </a:solidFill>
                <a:latin typeface="Noto Sans JP"/>
              </a:rPr>
              <a:t>Location: </a:t>
            </a:r>
            <a:r>
              <a:rPr lang="en-US" sz="2800" dirty="0">
                <a:solidFill>
                  <a:schemeClr val="bg1"/>
                </a:solidFill>
                <a:latin typeface="Noto Sans JP"/>
              </a:rPr>
              <a:t>Must be in the root directory of your deployment package.</a:t>
            </a:r>
          </a:p>
          <a:p>
            <a:r>
              <a:rPr lang="en-US" sz="2800" b="1" dirty="0">
                <a:solidFill>
                  <a:schemeClr val="bg1"/>
                </a:solidFill>
                <a:latin typeface="Noto Sans JP"/>
              </a:rPr>
              <a:t>Key Sections:</a:t>
            </a:r>
          </a:p>
          <a:p>
            <a:r>
              <a:rPr lang="en-US" sz="2800" b="1" dirty="0">
                <a:solidFill>
                  <a:schemeClr val="bg1"/>
                </a:solidFill>
                <a:latin typeface="Noto Sans JP"/>
              </a:rPr>
              <a:t>Files: </a:t>
            </a:r>
            <a:r>
              <a:rPr lang="en-US" sz="2800" dirty="0">
                <a:solidFill>
                  <a:schemeClr val="bg1"/>
                </a:solidFill>
                <a:latin typeface="Noto Sans JP"/>
              </a:rPr>
              <a:t>Maps files from your build artifact to specific folders on the target server.</a:t>
            </a:r>
          </a:p>
          <a:p>
            <a:r>
              <a:rPr lang="en-US" sz="2800" b="1" dirty="0">
                <a:solidFill>
                  <a:schemeClr val="bg1"/>
                </a:solidFill>
                <a:latin typeface="Noto Sans JP"/>
              </a:rPr>
              <a:t>Permissions:</a:t>
            </a:r>
            <a:r>
              <a:rPr lang="en-US" sz="2800" dirty="0">
                <a:solidFill>
                  <a:schemeClr val="bg1"/>
                </a:solidFill>
                <a:latin typeface="Noto Sans JP"/>
              </a:rPr>
              <a:t> Sets ownership and permissions for the copied files (Linux only).</a:t>
            </a:r>
          </a:p>
          <a:p>
            <a:r>
              <a:rPr lang="en-US" sz="2800" b="1" dirty="0">
                <a:solidFill>
                  <a:schemeClr val="bg1"/>
                </a:solidFill>
                <a:latin typeface="Noto Sans JP"/>
              </a:rPr>
              <a:t>Hooks:</a:t>
            </a:r>
            <a:r>
              <a:rPr lang="en-US" sz="2800" dirty="0">
                <a:solidFill>
                  <a:schemeClr val="bg1"/>
                </a:solidFill>
                <a:latin typeface="Noto Sans JP"/>
              </a:rPr>
              <a:t> A series of lifecycle events (like </a:t>
            </a:r>
            <a:r>
              <a:rPr lang="en-US" sz="2800" dirty="0" err="1">
                <a:solidFill>
                  <a:schemeClr val="bg1"/>
                </a:solidFill>
                <a:latin typeface="Noto Sans JP"/>
              </a:rPr>
              <a:t>AfterInstall</a:t>
            </a:r>
            <a:r>
              <a:rPr lang="en-US" sz="2800" dirty="0">
                <a:solidFill>
                  <a:schemeClr val="bg1"/>
                </a:solidFill>
                <a:latin typeface="Noto Sans JP"/>
              </a:rPr>
              <a:t>) where you can run custom scripts. </a:t>
            </a:r>
            <a:br>
              <a:rPr lang="en-US" sz="2800" dirty="0">
                <a:solidFill>
                  <a:schemeClr val="bg1"/>
                </a:solidFill>
                <a:latin typeface="Noto Sans JP"/>
              </a:rPr>
            </a:br>
            <a:br>
              <a:rPr lang="en-US" sz="2800" dirty="0">
                <a:solidFill>
                  <a:schemeClr val="bg1"/>
                </a:solidFill>
                <a:latin typeface="Noto Sans JP"/>
              </a:rPr>
            </a:br>
            <a:endParaRPr lang="en-US" sz="2800" dirty="0">
              <a:solidFill>
                <a:schemeClr val="bg1"/>
              </a:solidFill>
              <a:latin typeface="Noto Sans JP"/>
            </a:endParaRPr>
          </a:p>
        </p:txBody>
      </p:sp>
    </p:spTree>
    <p:extLst>
      <p:ext uri="{BB962C8B-B14F-4D97-AF65-F5344CB8AC3E}">
        <p14:creationId xmlns:p14="http://schemas.microsoft.com/office/powerpoint/2010/main" val="494486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A6297-D617-E221-934E-2BEC3A4A6CF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F9BE37F-04CE-B8BF-6D13-137FB5498DAA}"/>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B655E930-7FCF-4CF4-020C-2767A2C6622E}"/>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a:solidFill>
                  <a:schemeClr val="bg1"/>
                </a:solidFill>
                <a:latin typeface="Noto Sans JP"/>
              </a:rPr>
              <a:t>3. </a:t>
            </a:r>
            <a:r>
              <a:rPr lang="en-US" sz="2800" b="1" dirty="0" err="1">
                <a:solidFill>
                  <a:schemeClr val="bg1"/>
                </a:solidFill>
                <a:latin typeface="Noto Sans JP"/>
              </a:rPr>
              <a:t>AfterInstall</a:t>
            </a:r>
            <a:r>
              <a:rPr lang="en-US" sz="2800" b="1" dirty="0">
                <a:solidFill>
                  <a:schemeClr val="bg1"/>
                </a:solidFill>
                <a:latin typeface="Noto Sans JP"/>
              </a:rPr>
              <a:t> (Lifecycle Hook)</a:t>
            </a:r>
          </a:p>
          <a:p>
            <a:r>
              <a:rPr lang="en-US" sz="2800" dirty="0" err="1">
                <a:solidFill>
                  <a:schemeClr val="bg1"/>
                </a:solidFill>
                <a:latin typeface="Noto Sans JP"/>
              </a:rPr>
              <a:t>AfterInstall</a:t>
            </a:r>
            <a:r>
              <a:rPr lang="en-US" sz="2800" dirty="0">
                <a:solidFill>
                  <a:schemeClr val="bg1"/>
                </a:solidFill>
                <a:latin typeface="Noto Sans JP"/>
              </a:rPr>
              <a:t> is a specific "hook" or event inside the </a:t>
            </a:r>
            <a:r>
              <a:rPr lang="en-US" sz="2800" dirty="0" err="1">
                <a:solidFill>
                  <a:schemeClr val="bg1"/>
                </a:solidFill>
                <a:latin typeface="Noto Sans JP"/>
              </a:rPr>
              <a:t>appspec.yml</a:t>
            </a:r>
            <a:r>
              <a:rPr lang="en-US" sz="2800" dirty="0">
                <a:solidFill>
                  <a:schemeClr val="bg1"/>
                </a:solidFill>
                <a:latin typeface="Noto Sans JP"/>
              </a:rPr>
              <a:t> file. It is used to run tasks immediately after the application files have been copied to the destination folder but before the application is started. </a:t>
            </a:r>
          </a:p>
          <a:p>
            <a:r>
              <a:rPr lang="en-US" sz="2800" b="1" dirty="0">
                <a:solidFill>
                  <a:schemeClr val="bg1"/>
                </a:solidFill>
                <a:latin typeface="Noto Sans JP"/>
              </a:rPr>
              <a:t>Common Uses:</a:t>
            </a:r>
          </a:p>
          <a:p>
            <a:r>
              <a:rPr lang="en-US" sz="2800" dirty="0">
                <a:solidFill>
                  <a:schemeClr val="bg1"/>
                </a:solidFill>
                <a:latin typeface="Noto Sans JP"/>
              </a:rPr>
              <a:t>Changing file permissions or ownership.</a:t>
            </a:r>
          </a:p>
          <a:p>
            <a:r>
              <a:rPr lang="en-US" sz="2800" dirty="0">
                <a:solidFill>
                  <a:schemeClr val="bg1"/>
                </a:solidFill>
                <a:latin typeface="Noto Sans JP"/>
              </a:rPr>
              <a:t>Running configuration scripts or environment setup.</a:t>
            </a:r>
          </a:p>
          <a:p>
            <a:r>
              <a:rPr lang="en-US" sz="2800" dirty="0">
                <a:solidFill>
                  <a:schemeClr val="bg1"/>
                </a:solidFill>
                <a:latin typeface="Noto Sans JP"/>
              </a:rPr>
              <a:t>Decrypting sensitive files or secret keys.</a:t>
            </a:r>
          </a:p>
          <a:p>
            <a:r>
              <a:rPr lang="en-US" sz="2800" b="1" dirty="0">
                <a:solidFill>
                  <a:schemeClr val="bg1"/>
                </a:solidFill>
                <a:latin typeface="Noto Sans JP"/>
              </a:rPr>
              <a:t>Timing:</a:t>
            </a:r>
            <a:r>
              <a:rPr lang="en-US" sz="2800" dirty="0">
                <a:solidFill>
                  <a:schemeClr val="bg1"/>
                </a:solidFill>
                <a:latin typeface="Noto Sans JP"/>
              </a:rPr>
              <a:t> It runs after the Install event (where files are copied) and before </a:t>
            </a:r>
            <a:r>
              <a:rPr lang="en-US" sz="2800" dirty="0" err="1">
                <a:solidFill>
                  <a:schemeClr val="bg1"/>
                </a:solidFill>
                <a:latin typeface="Noto Sans JP"/>
              </a:rPr>
              <a:t>ApplicationStart</a:t>
            </a:r>
            <a:r>
              <a:rPr lang="en-US" sz="2800" dirty="0">
                <a:solidFill>
                  <a:schemeClr val="bg1"/>
                </a:solidFill>
                <a:latin typeface="Noto Sans JP"/>
              </a:rPr>
              <a:t>. </a:t>
            </a:r>
          </a:p>
        </p:txBody>
      </p:sp>
    </p:spTree>
    <p:extLst>
      <p:ext uri="{BB962C8B-B14F-4D97-AF65-F5344CB8AC3E}">
        <p14:creationId xmlns:p14="http://schemas.microsoft.com/office/powerpoint/2010/main" val="1181798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1A1DA-F248-B66F-3CFE-6D45E3A2B42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664A7B0-8102-AA6C-690E-1F387E3DC8AF}"/>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8411AA28-70E1-F7BA-10EE-00A23E69BAA3}"/>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a:solidFill>
                  <a:schemeClr val="bg1"/>
                </a:solidFill>
                <a:latin typeface="Noto Sans JP"/>
              </a:rPr>
              <a:t>Comparison Summary</a:t>
            </a:r>
          </a:p>
          <a:p>
            <a:endParaRPr lang="en-US" sz="2800" b="1" dirty="0">
              <a:solidFill>
                <a:schemeClr val="bg1"/>
              </a:solidFill>
              <a:latin typeface="Noto Sans JP"/>
            </a:endParaRPr>
          </a:p>
          <a:p>
            <a:br>
              <a:rPr lang="en-US" sz="2800" b="1" dirty="0">
                <a:solidFill>
                  <a:schemeClr val="bg1"/>
                </a:solidFill>
                <a:latin typeface="Noto Sans JP"/>
              </a:rPr>
            </a:br>
            <a:br>
              <a:rPr lang="en-US" sz="2800" b="1" dirty="0">
                <a:solidFill>
                  <a:schemeClr val="bg1"/>
                </a:solidFill>
                <a:latin typeface="Noto Sans JP"/>
              </a:rPr>
            </a:br>
            <a:br>
              <a:rPr lang="en-US" sz="2800" b="1" dirty="0">
                <a:solidFill>
                  <a:schemeClr val="bg1"/>
                </a:solidFill>
                <a:latin typeface="Noto Sans JP"/>
              </a:rPr>
            </a:br>
            <a:br>
              <a:rPr lang="en-US" sz="2800" b="1" dirty="0">
                <a:solidFill>
                  <a:schemeClr val="bg1"/>
                </a:solidFill>
                <a:latin typeface="Noto Sans JP"/>
              </a:rPr>
            </a:br>
            <a:br>
              <a:rPr lang="en-US" sz="2800" b="1" dirty="0">
                <a:solidFill>
                  <a:schemeClr val="bg1"/>
                </a:solidFill>
                <a:latin typeface="Noto Sans JP"/>
              </a:rPr>
            </a:br>
            <a:br>
              <a:rPr lang="en-US" sz="2800" b="1" dirty="0">
                <a:solidFill>
                  <a:schemeClr val="bg1"/>
                </a:solidFill>
                <a:latin typeface="Noto Sans JP"/>
              </a:rPr>
            </a:br>
            <a:br>
              <a:rPr lang="en-US" sz="2800" b="1" dirty="0">
                <a:solidFill>
                  <a:schemeClr val="bg1"/>
                </a:solidFill>
                <a:latin typeface="Noto Sans JP"/>
              </a:rPr>
            </a:br>
            <a:endParaRPr lang="en-US" sz="2800" dirty="0">
              <a:solidFill>
                <a:schemeClr val="bg1"/>
              </a:solidFill>
              <a:latin typeface="Noto Sans JP"/>
            </a:endParaRPr>
          </a:p>
        </p:txBody>
      </p:sp>
      <p:sp>
        <p:nvSpPr>
          <p:cNvPr id="3" name="Rectangle 1">
            <a:extLst>
              <a:ext uri="{FF2B5EF4-FFF2-40B4-BE49-F238E27FC236}">
                <a16:creationId xmlns:a16="http://schemas.microsoft.com/office/drawing/2014/main" id="{15164CA1-2CDC-8256-03AC-0E7CB5136C95}"/>
              </a:ext>
            </a:extLst>
          </p:cNvPr>
          <p:cNvSpPr>
            <a:spLocks noChangeArrowheads="1"/>
          </p:cNvSpPr>
          <p:nvPr/>
        </p:nvSpPr>
        <p:spPr bwMode="auto">
          <a:xfrm>
            <a:off x="0" y="0"/>
            <a:ext cx="12192000" cy="0"/>
          </a:xfrm>
          <a:prstGeom prst="rect">
            <a:avLst/>
          </a:prstGeom>
          <a:solidFill>
            <a:srgbClr val="F0F2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0440"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rgbClr val="0A0A0A"/>
                </a:solidFill>
                <a:effectLst/>
                <a:latin typeface="Google Sans"/>
              </a:rPr>
              <a:t>Comparison Summary</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20BCB5A6-7E1A-157F-FD92-4A591C1B31A3}"/>
              </a:ext>
            </a:extLst>
          </p:cNvPr>
          <p:cNvGraphicFramePr>
            <a:graphicFrameLocks noGrp="1"/>
          </p:cNvGraphicFramePr>
          <p:nvPr>
            <p:extLst>
              <p:ext uri="{D42A27DB-BD31-4B8C-83A1-F6EECF244321}">
                <p14:modId xmlns:p14="http://schemas.microsoft.com/office/powerpoint/2010/main" val="875486094"/>
              </p:ext>
            </p:extLst>
          </p:nvPr>
        </p:nvGraphicFramePr>
        <p:xfrm>
          <a:off x="1012723" y="2687320"/>
          <a:ext cx="10225548" cy="3247349"/>
        </p:xfrm>
        <a:graphic>
          <a:graphicData uri="http://schemas.openxmlformats.org/drawingml/2006/table">
            <a:tbl>
              <a:tblPr firstRow="1" bandRow="1">
                <a:tableStyleId>{93296810-A885-4BE3-A3E7-6D5BEEA58F35}</a:tableStyleId>
              </a:tblPr>
              <a:tblGrid>
                <a:gridCol w="2408903">
                  <a:extLst>
                    <a:ext uri="{9D8B030D-6E8A-4147-A177-3AD203B41FA5}">
                      <a16:colId xmlns:a16="http://schemas.microsoft.com/office/drawing/2014/main" val="1448892944"/>
                    </a:ext>
                  </a:extLst>
                </a:gridCol>
                <a:gridCol w="3972232">
                  <a:extLst>
                    <a:ext uri="{9D8B030D-6E8A-4147-A177-3AD203B41FA5}">
                      <a16:colId xmlns:a16="http://schemas.microsoft.com/office/drawing/2014/main" val="1222440640"/>
                    </a:ext>
                  </a:extLst>
                </a:gridCol>
                <a:gridCol w="3844413">
                  <a:extLst>
                    <a:ext uri="{9D8B030D-6E8A-4147-A177-3AD203B41FA5}">
                      <a16:colId xmlns:a16="http://schemas.microsoft.com/office/drawing/2014/main" val="1224784378"/>
                    </a:ext>
                  </a:extLst>
                </a:gridCol>
              </a:tblGrid>
              <a:tr h="410132">
                <a:tc>
                  <a:txBody>
                    <a:bodyPr/>
                    <a:lstStyle/>
                    <a:p>
                      <a:pPr algn="ctr"/>
                      <a:r>
                        <a:rPr lang="en-IN" dirty="0"/>
                        <a:t>Feature</a:t>
                      </a:r>
                    </a:p>
                  </a:txBody>
                  <a:tcPr/>
                </a:tc>
                <a:tc>
                  <a:txBody>
                    <a:bodyPr/>
                    <a:lstStyle/>
                    <a:p>
                      <a:pPr algn="ctr"/>
                      <a:r>
                        <a:rPr lang="en-IN" dirty="0" err="1"/>
                        <a:t>Buildspec</a:t>
                      </a:r>
                      <a:endParaRPr lang="en-IN" dirty="0"/>
                    </a:p>
                  </a:txBody>
                  <a:tcPr/>
                </a:tc>
                <a:tc>
                  <a:txBody>
                    <a:bodyPr/>
                    <a:lstStyle/>
                    <a:p>
                      <a:pPr algn="ctr"/>
                      <a:r>
                        <a:rPr lang="en-IN" dirty="0" err="1"/>
                        <a:t>AppSpec</a:t>
                      </a:r>
                      <a:r>
                        <a:rPr lang="en-IN" dirty="0"/>
                        <a:t>	</a:t>
                      </a:r>
                    </a:p>
                  </a:txBody>
                  <a:tcPr/>
                </a:tc>
                <a:extLst>
                  <a:ext uri="{0D108BD9-81ED-4DB2-BD59-A6C34878D82A}">
                    <a16:rowId xmlns:a16="http://schemas.microsoft.com/office/drawing/2014/main" val="32036564"/>
                  </a:ext>
                </a:extLst>
              </a:tr>
              <a:tr h="410132">
                <a:tc>
                  <a:txBody>
                    <a:bodyPr/>
                    <a:lstStyle/>
                    <a:p>
                      <a:r>
                        <a:rPr lang="en-IN" b="1" dirty="0">
                          <a:solidFill>
                            <a:schemeClr val="bg1"/>
                          </a:solidFill>
                        </a:rPr>
                        <a:t>AWS Service</a:t>
                      </a:r>
                    </a:p>
                  </a:txBody>
                  <a:tcPr/>
                </a:tc>
                <a:tc>
                  <a:txBody>
                    <a:bodyPr/>
                    <a:lstStyle/>
                    <a:p>
                      <a:r>
                        <a:rPr lang="en-IN" b="1" dirty="0">
                          <a:solidFill>
                            <a:schemeClr val="bg1"/>
                          </a:solidFill>
                        </a:rPr>
                        <a:t>AWS </a:t>
                      </a:r>
                      <a:r>
                        <a:rPr lang="en-IN" b="1" dirty="0" err="1">
                          <a:solidFill>
                            <a:schemeClr val="bg1"/>
                          </a:solidFill>
                        </a:rPr>
                        <a:t>CodeBuild</a:t>
                      </a:r>
                      <a:endParaRPr lang="en-IN" b="1" dirty="0">
                        <a:solidFill>
                          <a:schemeClr val="bg1"/>
                        </a:solidFill>
                      </a:endParaRPr>
                    </a:p>
                  </a:txBody>
                  <a:tcPr/>
                </a:tc>
                <a:tc>
                  <a:txBody>
                    <a:bodyPr/>
                    <a:lstStyle/>
                    <a:p>
                      <a:r>
                        <a:rPr lang="en-IN" b="1" dirty="0">
                          <a:solidFill>
                            <a:schemeClr val="bg1"/>
                          </a:solidFill>
                        </a:rPr>
                        <a:t>AWS </a:t>
                      </a:r>
                      <a:r>
                        <a:rPr lang="en-IN" b="1" dirty="0" err="1">
                          <a:solidFill>
                            <a:schemeClr val="bg1"/>
                          </a:solidFill>
                        </a:rPr>
                        <a:t>CodeDeploy</a:t>
                      </a:r>
                      <a:endParaRPr lang="en-IN" b="1" dirty="0">
                        <a:solidFill>
                          <a:schemeClr val="bg1"/>
                        </a:solidFill>
                      </a:endParaRPr>
                    </a:p>
                  </a:txBody>
                  <a:tcPr/>
                </a:tc>
                <a:extLst>
                  <a:ext uri="{0D108BD9-81ED-4DB2-BD59-A6C34878D82A}">
                    <a16:rowId xmlns:a16="http://schemas.microsoft.com/office/drawing/2014/main" val="3970308592"/>
                  </a:ext>
                </a:extLst>
              </a:tr>
              <a:tr h="707900">
                <a:tc>
                  <a:txBody>
                    <a:bodyPr/>
                    <a:lstStyle/>
                    <a:p>
                      <a:r>
                        <a:rPr lang="en-IN" b="1" dirty="0">
                          <a:solidFill>
                            <a:schemeClr val="bg1"/>
                          </a:solidFill>
                        </a:rPr>
                        <a:t>Purpose</a:t>
                      </a:r>
                    </a:p>
                  </a:txBody>
                  <a:tcPr/>
                </a:tc>
                <a:tc>
                  <a:txBody>
                    <a:bodyPr/>
                    <a:lstStyle/>
                    <a:p>
                      <a:r>
                        <a:rPr lang="en-IN" b="1" dirty="0">
                          <a:solidFill>
                            <a:schemeClr val="bg1"/>
                          </a:solidFill>
                        </a:rPr>
                        <a:t>Compiling and packaging code</a:t>
                      </a:r>
                    </a:p>
                  </a:txBody>
                  <a:tcPr/>
                </a:tc>
                <a:tc>
                  <a:txBody>
                    <a:bodyPr/>
                    <a:lstStyle/>
                    <a:p>
                      <a:r>
                        <a:rPr lang="en-US" b="1" dirty="0">
                          <a:solidFill>
                            <a:schemeClr val="bg1"/>
                          </a:solidFill>
                        </a:rPr>
                        <a:t>Deploying and configuring the app</a:t>
                      </a:r>
                      <a:endParaRPr lang="en-IN" b="1" dirty="0">
                        <a:solidFill>
                          <a:schemeClr val="bg1"/>
                        </a:solidFill>
                      </a:endParaRPr>
                    </a:p>
                  </a:txBody>
                  <a:tcPr/>
                </a:tc>
                <a:extLst>
                  <a:ext uri="{0D108BD9-81ED-4DB2-BD59-A6C34878D82A}">
                    <a16:rowId xmlns:a16="http://schemas.microsoft.com/office/drawing/2014/main" val="2841074188"/>
                  </a:ext>
                </a:extLst>
              </a:tr>
              <a:tr h="707900">
                <a:tc>
                  <a:txBody>
                    <a:bodyPr/>
                    <a:lstStyle/>
                    <a:p>
                      <a:r>
                        <a:rPr lang="en-IN" b="1" dirty="0">
                          <a:solidFill>
                            <a:schemeClr val="bg1"/>
                          </a:solidFill>
                        </a:rPr>
                        <a:t>Stage</a:t>
                      </a:r>
                    </a:p>
                  </a:txBody>
                  <a:tcPr/>
                </a:tc>
                <a:tc>
                  <a:txBody>
                    <a:bodyPr/>
                    <a:lstStyle/>
                    <a:p>
                      <a:r>
                        <a:rPr lang="en-US" b="1" dirty="0">
                          <a:solidFill>
                            <a:schemeClr val="bg1"/>
                          </a:solidFill>
                        </a:rPr>
                        <a:t>Build Stage of the pipeline</a:t>
                      </a:r>
                      <a:endParaRPr lang="en-IN" b="1" dirty="0">
                        <a:solidFill>
                          <a:schemeClr val="bg1"/>
                        </a:solidFill>
                      </a:endParaRPr>
                    </a:p>
                  </a:txBody>
                  <a:tcPr/>
                </a:tc>
                <a:tc>
                  <a:txBody>
                    <a:bodyPr/>
                    <a:lstStyle/>
                    <a:p>
                      <a:r>
                        <a:rPr lang="en-US" b="1" dirty="0">
                          <a:solidFill>
                            <a:schemeClr val="bg1"/>
                          </a:solidFill>
                        </a:rPr>
                        <a:t>Deploy Stage of the pipeline</a:t>
                      </a:r>
                    </a:p>
                  </a:txBody>
                  <a:tcPr/>
                </a:tc>
                <a:extLst>
                  <a:ext uri="{0D108BD9-81ED-4DB2-BD59-A6C34878D82A}">
                    <a16:rowId xmlns:a16="http://schemas.microsoft.com/office/drawing/2014/main" val="3557551902"/>
                  </a:ext>
                </a:extLst>
              </a:tr>
              <a:tr h="1011285">
                <a:tc>
                  <a:txBody>
                    <a:bodyPr/>
                    <a:lstStyle/>
                    <a:p>
                      <a:r>
                        <a:rPr lang="en-IN" b="1" dirty="0">
                          <a:solidFill>
                            <a:schemeClr val="bg1"/>
                          </a:solidFill>
                        </a:rPr>
                        <a:t>Example Hook</a:t>
                      </a:r>
                    </a:p>
                  </a:txBody>
                  <a:tcPr/>
                </a:tc>
                <a:tc>
                  <a:txBody>
                    <a:bodyPr/>
                    <a:lstStyle/>
                    <a:p>
                      <a:r>
                        <a:rPr lang="en-IN" b="1" dirty="0" err="1">
                          <a:solidFill>
                            <a:schemeClr val="bg1"/>
                          </a:solidFill>
                        </a:rPr>
                        <a:t>pre_build</a:t>
                      </a:r>
                      <a:r>
                        <a:rPr lang="en-IN" b="1" dirty="0">
                          <a:solidFill>
                            <a:schemeClr val="bg1"/>
                          </a:solidFill>
                        </a:rPr>
                        <a:t>, build</a:t>
                      </a:r>
                    </a:p>
                  </a:txBody>
                  <a:tcPr/>
                </a:tc>
                <a:tc>
                  <a:txBody>
                    <a:bodyPr/>
                    <a:lstStyle/>
                    <a:p>
                      <a:r>
                        <a:rPr lang="en-US" b="1" dirty="0" err="1">
                          <a:solidFill>
                            <a:schemeClr val="bg1"/>
                          </a:solidFill>
                        </a:rPr>
                        <a:t>BeforeInstall</a:t>
                      </a:r>
                      <a:r>
                        <a:rPr lang="en-US" b="1" dirty="0">
                          <a:solidFill>
                            <a:schemeClr val="bg1"/>
                          </a:solidFill>
                        </a:rPr>
                        <a:t>, </a:t>
                      </a:r>
                      <a:r>
                        <a:rPr lang="en-US" b="1" dirty="0" err="1">
                          <a:solidFill>
                            <a:schemeClr val="bg1"/>
                          </a:solidFill>
                        </a:rPr>
                        <a:t>AfterInstall</a:t>
                      </a:r>
                      <a:r>
                        <a:rPr lang="en-US" b="1" dirty="0">
                          <a:solidFill>
                            <a:schemeClr val="bg1"/>
                          </a:solidFill>
                        </a:rPr>
                        <a:t>, </a:t>
                      </a:r>
                      <a:r>
                        <a:rPr lang="en-US" b="1" dirty="0" err="1">
                          <a:solidFill>
                            <a:schemeClr val="bg1"/>
                          </a:solidFill>
                        </a:rPr>
                        <a:t>ApplicationStart</a:t>
                      </a:r>
                      <a:endParaRPr lang="en-US" b="1" dirty="0">
                        <a:solidFill>
                          <a:schemeClr val="bg1"/>
                        </a:solidFill>
                      </a:endParaRPr>
                    </a:p>
                  </a:txBody>
                  <a:tcPr/>
                </a:tc>
                <a:extLst>
                  <a:ext uri="{0D108BD9-81ED-4DB2-BD59-A6C34878D82A}">
                    <a16:rowId xmlns:a16="http://schemas.microsoft.com/office/drawing/2014/main" val="2121718367"/>
                  </a:ext>
                </a:extLst>
              </a:tr>
            </a:tbl>
          </a:graphicData>
        </a:graphic>
      </p:graphicFrame>
    </p:spTree>
    <p:extLst>
      <p:ext uri="{BB962C8B-B14F-4D97-AF65-F5344CB8AC3E}">
        <p14:creationId xmlns:p14="http://schemas.microsoft.com/office/powerpoint/2010/main" val="2912388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1020C-CA55-DAEF-3F7C-AC42630EB01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E41619C-70C5-E074-7B28-F87DD7835F67}"/>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818FCD15-DD1A-F5A1-8592-A49B7D0CC27B}"/>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000" b="1" dirty="0">
                <a:solidFill>
                  <a:schemeClr val="bg1"/>
                </a:solidFill>
                <a:latin typeface="Noto Sans JP"/>
              </a:rPr>
              <a:t>Example: Minimal Build File This file simply installs dependencies and prepares the files for deployment.</a:t>
            </a:r>
            <a:br>
              <a:rPr lang="en-US" sz="2000" b="1" dirty="0">
                <a:solidFill>
                  <a:schemeClr val="bg1"/>
                </a:solidFill>
                <a:latin typeface="Noto Sans JP"/>
              </a:rPr>
            </a:br>
            <a:r>
              <a:rPr lang="en-US" sz="2000" dirty="0">
                <a:solidFill>
                  <a:schemeClr val="bg1"/>
                </a:solidFill>
                <a:latin typeface="Noto Sans JP"/>
              </a:rPr>
              <a:t>version: 0.2</a:t>
            </a:r>
          </a:p>
          <a:p>
            <a:r>
              <a:rPr lang="en-US" sz="2000" dirty="0">
                <a:solidFill>
                  <a:schemeClr val="bg1"/>
                </a:solidFill>
                <a:latin typeface="Noto Sans JP"/>
              </a:rPr>
              <a:t>phases:</a:t>
            </a:r>
          </a:p>
          <a:p>
            <a:r>
              <a:rPr lang="en-US" sz="2000" dirty="0">
                <a:solidFill>
                  <a:schemeClr val="bg1"/>
                </a:solidFill>
                <a:latin typeface="Noto Sans JP"/>
              </a:rPr>
              <a:t>  install:</a:t>
            </a:r>
          </a:p>
          <a:p>
            <a:r>
              <a:rPr lang="en-US" sz="2000" dirty="0">
                <a:solidFill>
                  <a:schemeClr val="bg1"/>
                </a:solidFill>
                <a:latin typeface="Noto Sans JP"/>
              </a:rPr>
              <a:t>    commands:</a:t>
            </a:r>
          </a:p>
          <a:p>
            <a:r>
              <a:rPr lang="en-US" sz="2000" dirty="0">
                <a:solidFill>
                  <a:schemeClr val="bg1"/>
                </a:solidFill>
                <a:latin typeface="Noto Sans JP"/>
              </a:rPr>
              <a:t>      - </a:t>
            </a:r>
            <a:r>
              <a:rPr lang="en-US" sz="2000" dirty="0" err="1">
                <a:solidFill>
                  <a:schemeClr val="bg1"/>
                </a:solidFill>
                <a:latin typeface="Noto Sans JP"/>
              </a:rPr>
              <a:t>npm</a:t>
            </a:r>
            <a:r>
              <a:rPr lang="en-US" sz="2000" dirty="0">
                <a:solidFill>
                  <a:schemeClr val="bg1"/>
                </a:solidFill>
                <a:latin typeface="Noto Sans JP"/>
              </a:rPr>
              <a:t> install</a:t>
            </a:r>
          </a:p>
          <a:p>
            <a:r>
              <a:rPr lang="en-US" sz="2000" dirty="0">
                <a:solidFill>
                  <a:schemeClr val="bg1"/>
                </a:solidFill>
                <a:latin typeface="Noto Sans JP"/>
              </a:rPr>
              <a:t>  build:</a:t>
            </a:r>
          </a:p>
          <a:p>
            <a:r>
              <a:rPr lang="en-US" sz="2000" dirty="0">
                <a:solidFill>
                  <a:schemeClr val="bg1"/>
                </a:solidFill>
                <a:latin typeface="Noto Sans JP"/>
              </a:rPr>
              <a:t>    commands:</a:t>
            </a:r>
          </a:p>
          <a:p>
            <a:r>
              <a:rPr lang="en-US" sz="2000" dirty="0">
                <a:solidFill>
                  <a:schemeClr val="bg1"/>
                </a:solidFill>
                <a:latin typeface="Noto Sans JP"/>
              </a:rPr>
              <a:t>      - </a:t>
            </a:r>
            <a:r>
              <a:rPr lang="en-US" sz="2000" dirty="0" err="1">
                <a:solidFill>
                  <a:schemeClr val="bg1"/>
                </a:solidFill>
                <a:latin typeface="Noto Sans JP"/>
              </a:rPr>
              <a:t>npm</a:t>
            </a:r>
            <a:r>
              <a:rPr lang="en-US" sz="2000" dirty="0">
                <a:solidFill>
                  <a:schemeClr val="bg1"/>
                </a:solidFill>
                <a:latin typeface="Noto Sans JP"/>
              </a:rPr>
              <a:t> run build</a:t>
            </a:r>
          </a:p>
          <a:p>
            <a:r>
              <a:rPr lang="en-US" sz="2000" dirty="0">
                <a:solidFill>
                  <a:schemeClr val="bg1"/>
                </a:solidFill>
                <a:latin typeface="Noto Sans JP"/>
              </a:rPr>
              <a:t>artifacts:</a:t>
            </a:r>
          </a:p>
          <a:p>
            <a:r>
              <a:rPr lang="en-US" sz="2000" dirty="0">
                <a:solidFill>
                  <a:schemeClr val="bg1"/>
                </a:solidFill>
                <a:latin typeface="Noto Sans JP"/>
              </a:rPr>
              <a:t>  files:</a:t>
            </a:r>
          </a:p>
          <a:p>
            <a:r>
              <a:rPr lang="en-US" sz="2000" dirty="0">
                <a:solidFill>
                  <a:schemeClr val="bg1"/>
                </a:solidFill>
                <a:latin typeface="Noto Sans JP"/>
              </a:rPr>
              <a:t>    - '**/*'</a:t>
            </a:r>
          </a:p>
          <a:p>
            <a:r>
              <a:rPr lang="en-US" sz="2000" dirty="0">
                <a:solidFill>
                  <a:schemeClr val="bg1"/>
                </a:solidFill>
                <a:latin typeface="Noto Sans JP"/>
              </a:rPr>
              <a:t>  base-directory: '</a:t>
            </a:r>
            <a:r>
              <a:rPr lang="en-US" sz="2000" dirty="0" err="1">
                <a:solidFill>
                  <a:schemeClr val="bg1"/>
                </a:solidFill>
                <a:latin typeface="Noto Sans JP"/>
              </a:rPr>
              <a:t>dist</a:t>
            </a:r>
            <a:r>
              <a:rPr lang="en-US" sz="2000" dirty="0">
                <a:solidFill>
                  <a:schemeClr val="bg1"/>
                </a:solidFill>
                <a:latin typeface="Noto Sans JP"/>
              </a:rPr>
              <a:t>'</a:t>
            </a:r>
          </a:p>
        </p:txBody>
      </p:sp>
    </p:spTree>
    <p:extLst>
      <p:ext uri="{BB962C8B-B14F-4D97-AF65-F5344CB8AC3E}">
        <p14:creationId xmlns:p14="http://schemas.microsoft.com/office/powerpoint/2010/main" val="287169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DF8C-7CAA-6D41-5937-5BCC897387C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4091534-FE83-6BE4-DB31-5FB175601434}"/>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EE492600-496E-9CCF-E1C1-4E221F8FCD91}"/>
              </a:ext>
            </a:extLst>
          </p:cNvPr>
          <p:cNvSpPr/>
          <p:nvPr/>
        </p:nvSpPr>
        <p:spPr>
          <a:xfrm>
            <a:off x="608370" y="923330"/>
            <a:ext cx="10975259" cy="3847207"/>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a:solidFill>
                  <a:schemeClr val="bg1"/>
                </a:solidFill>
                <a:latin typeface="Noto Sans JP"/>
              </a:rPr>
              <a:t>What this small file does:</a:t>
            </a:r>
            <a:br>
              <a:rPr lang="en-US" sz="2800" b="1" dirty="0">
                <a:solidFill>
                  <a:schemeClr val="bg1"/>
                </a:solidFill>
                <a:latin typeface="Noto Sans JP"/>
              </a:rPr>
            </a:br>
            <a:r>
              <a:rPr lang="en-US" sz="2800" dirty="0">
                <a:solidFill>
                  <a:schemeClr val="bg1"/>
                </a:solidFill>
                <a:latin typeface="Noto Sans JP"/>
              </a:rPr>
              <a:t>version: 0.2: Tells AWS to use the standard build engine.</a:t>
            </a:r>
          </a:p>
          <a:p>
            <a:r>
              <a:rPr lang="en-US" sz="2800" dirty="0">
                <a:solidFill>
                  <a:schemeClr val="bg1"/>
                </a:solidFill>
                <a:latin typeface="Noto Sans JP"/>
              </a:rPr>
              <a:t>install: Runs </a:t>
            </a:r>
            <a:r>
              <a:rPr lang="en-US" sz="2800" dirty="0" err="1">
                <a:solidFill>
                  <a:schemeClr val="bg1"/>
                </a:solidFill>
                <a:latin typeface="Noto Sans JP"/>
              </a:rPr>
              <a:t>npm</a:t>
            </a:r>
            <a:r>
              <a:rPr lang="en-US" sz="2800" dirty="0">
                <a:solidFill>
                  <a:schemeClr val="bg1"/>
                </a:solidFill>
                <a:latin typeface="Noto Sans JP"/>
              </a:rPr>
              <a:t> install to download your project libraries.</a:t>
            </a:r>
          </a:p>
          <a:p>
            <a:r>
              <a:rPr lang="en-US" sz="2800" dirty="0">
                <a:solidFill>
                  <a:schemeClr val="bg1"/>
                </a:solidFill>
                <a:latin typeface="Noto Sans JP"/>
              </a:rPr>
              <a:t>build: Runs your build script (like compiling code or minifying CSS).</a:t>
            </a:r>
          </a:p>
          <a:p>
            <a:r>
              <a:rPr lang="en-US" sz="2800" dirty="0">
                <a:solidFill>
                  <a:schemeClr val="bg1"/>
                </a:solidFill>
                <a:latin typeface="Noto Sans JP"/>
              </a:rPr>
              <a:t>artifacts: Takes everything inside the </a:t>
            </a:r>
            <a:r>
              <a:rPr lang="en-US" sz="2800" dirty="0" err="1">
                <a:solidFill>
                  <a:schemeClr val="bg1"/>
                </a:solidFill>
                <a:latin typeface="Noto Sans JP"/>
              </a:rPr>
              <a:t>dist</a:t>
            </a:r>
            <a:r>
              <a:rPr lang="en-US" sz="2800" dirty="0">
                <a:solidFill>
                  <a:schemeClr val="bg1"/>
                </a:solidFill>
                <a:latin typeface="Noto Sans JP"/>
              </a:rPr>
              <a:t> folder and hands it over to the next step in your pipeline (like </a:t>
            </a:r>
            <a:r>
              <a:rPr lang="en-US" sz="2800" dirty="0" err="1">
                <a:solidFill>
                  <a:schemeClr val="bg1"/>
                </a:solidFill>
                <a:latin typeface="Noto Sans JP"/>
              </a:rPr>
              <a:t>CodeDeploy</a:t>
            </a:r>
            <a:r>
              <a:rPr lang="en-US" sz="2800" dirty="0">
                <a:solidFill>
                  <a:schemeClr val="bg1"/>
                </a:solidFill>
                <a:latin typeface="Noto Sans JP"/>
              </a:rPr>
              <a:t>).</a:t>
            </a:r>
          </a:p>
        </p:txBody>
      </p:sp>
    </p:spTree>
    <p:extLst>
      <p:ext uri="{BB962C8B-B14F-4D97-AF65-F5344CB8AC3E}">
        <p14:creationId xmlns:p14="http://schemas.microsoft.com/office/powerpoint/2010/main" val="1445127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63674-F19D-3E11-00B9-1A8F3630B51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D4D0C00-FB5A-A2C7-0953-6C718C7524B4}"/>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9E950F78-AF31-CE8D-60AC-09CC9D4A8297}"/>
              </a:ext>
            </a:extLst>
          </p:cNvPr>
          <p:cNvSpPr/>
          <p:nvPr/>
        </p:nvSpPr>
        <p:spPr>
          <a:xfrm>
            <a:off x="608370" y="923330"/>
            <a:ext cx="10975259" cy="3847207"/>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a:solidFill>
                  <a:schemeClr val="bg1"/>
                </a:solidFill>
                <a:latin typeface="Noto Sans JP"/>
              </a:rPr>
              <a:t>What this small file does:</a:t>
            </a:r>
            <a:br>
              <a:rPr lang="en-US" sz="2800" b="1" dirty="0">
                <a:solidFill>
                  <a:schemeClr val="bg1"/>
                </a:solidFill>
                <a:latin typeface="Noto Sans JP"/>
              </a:rPr>
            </a:br>
            <a:r>
              <a:rPr lang="en-US" sz="2800" dirty="0">
                <a:solidFill>
                  <a:schemeClr val="bg1"/>
                </a:solidFill>
                <a:latin typeface="Noto Sans JP"/>
              </a:rPr>
              <a:t>version: 0.2: Tells AWS to use the standard build engine.</a:t>
            </a:r>
          </a:p>
          <a:p>
            <a:r>
              <a:rPr lang="en-US" sz="2800" dirty="0">
                <a:solidFill>
                  <a:schemeClr val="bg1"/>
                </a:solidFill>
                <a:latin typeface="Noto Sans JP"/>
              </a:rPr>
              <a:t>install: Runs </a:t>
            </a:r>
            <a:r>
              <a:rPr lang="en-US" sz="2800" dirty="0" err="1">
                <a:solidFill>
                  <a:schemeClr val="bg1"/>
                </a:solidFill>
                <a:latin typeface="Noto Sans JP"/>
              </a:rPr>
              <a:t>npm</a:t>
            </a:r>
            <a:r>
              <a:rPr lang="en-US" sz="2800" dirty="0">
                <a:solidFill>
                  <a:schemeClr val="bg1"/>
                </a:solidFill>
                <a:latin typeface="Noto Sans JP"/>
              </a:rPr>
              <a:t> install to download your project libraries.</a:t>
            </a:r>
          </a:p>
          <a:p>
            <a:r>
              <a:rPr lang="en-US" sz="2800" dirty="0">
                <a:solidFill>
                  <a:schemeClr val="bg1"/>
                </a:solidFill>
                <a:latin typeface="Noto Sans JP"/>
              </a:rPr>
              <a:t>build: Runs your build script (like compiling code or minifying CSS).</a:t>
            </a:r>
          </a:p>
          <a:p>
            <a:r>
              <a:rPr lang="en-US" sz="2800" dirty="0">
                <a:solidFill>
                  <a:schemeClr val="bg1"/>
                </a:solidFill>
                <a:latin typeface="Noto Sans JP"/>
              </a:rPr>
              <a:t>artifacts: Takes everything inside the </a:t>
            </a:r>
            <a:r>
              <a:rPr lang="en-US" sz="2800" dirty="0" err="1">
                <a:solidFill>
                  <a:schemeClr val="bg1"/>
                </a:solidFill>
                <a:latin typeface="Noto Sans JP"/>
              </a:rPr>
              <a:t>dist</a:t>
            </a:r>
            <a:r>
              <a:rPr lang="en-US" sz="2800" dirty="0">
                <a:solidFill>
                  <a:schemeClr val="bg1"/>
                </a:solidFill>
                <a:latin typeface="Noto Sans JP"/>
              </a:rPr>
              <a:t> folder and hands it over to the next step in your pipeline (like </a:t>
            </a:r>
            <a:r>
              <a:rPr lang="en-US" sz="2800" dirty="0" err="1">
                <a:solidFill>
                  <a:schemeClr val="bg1"/>
                </a:solidFill>
                <a:latin typeface="Noto Sans JP"/>
              </a:rPr>
              <a:t>CodeDeploy</a:t>
            </a:r>
            <a:r>
              <a:rPr lang="en-US" sz="2800" dirty="0">
                <a:solidFill>
                  <a:schemeClr val="bg1"/>
                </a:solidFill>
                <a:latin typeface="Noto Sans JP"/>
              </a:rPr>
              <a:t>).</a:t>
            </a:r>
          </a:p>
        </p:txBody>
      </p:sp>
    </p:spTree>
    <p:extLst>
      <p:ext uri="{BB962C8B-B14F-4D97-AF65-F5344CB8AC3E}">
        <p14:creationId xmlns:p14="http://schemas.microsoft.com/office/powerpoint/2010/main" val="1249026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42000-D1F9-6D43-0EA6-C225430CFBF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203EEBF-6F8A-8CB8-E03F-A716DA851C91}"/>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15C72EE1-AC50-6A62-2EED-C3C069B0E8D7}"/>
              </a:ext>
            </a:extLst>
          </p:cNvPr>
          <p:cNvSpPr/>
          <p:nvPr/>
        </p:nvSpPr>
        <p:spPr>
          <a:xfrm>
            <a:off x="608370" y="923330"/>
            <a:ext cx="10975259" cy="4278094"/>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err="1">
                <a:solidFill>
                  <a:schemeClr val="bg1"/>
                </a:solidFill>
                <a:latin typeface="Noto Sans JP"/>
              </a:rPr>
              <a:t>appsec.yml</a:t>
            </a:r>
            <a:br>
              <a:rPr lang="en-US" sz="2800" b="1" dirty="0">
                <a:solidFill>
                  <a:schemeClr val="bg1"/>
                </a:solidFill>
                <a:latin typeface="Noto Sans JP"/>
              </a:rPr>
            </a:br>
            <a:r>
              <a:rPr lang="en-US" sz="2800" dirty="0">
                <a:solidFill>
                  <a:schemeClr val="bg1"/>
                </a:solidFill>
                <a:latin typeface="Noto Sans JP"/>
              </a:rPr>
              <a:t>An </a:t>
            </a:r>
            <a:r>
              <a:rPr lang="en-US" sz="2800" dirty="0" err="1">
                <a:solidFill>
                  <a:schemeClr val="bg1"/>
                </a:solidFill>
                <a:latin typeface="Noto Sans JP"/>
              </a:rPr>
              <a:t>AppSpec</a:t>
            </a:r>
            <a:r>
              <a:rPr lang="en-US" sz="2800" dirty="0">
                <a:solidFill>
                  <a:schemeClr val="bg1"/>
                </a:solidFill>
                <a:latin typeface="Noto Sans JP"/>
              </a:rPr>
              <a:t> (Application Specification) file is a configuration file used by AWS </a:t>
            </a:r>
            <a:r>
              <a:rPr lang="en-US" sz="2800" dirty="0" err="1">
                <a:solidFill>
                  <a:schemeClr val="bg1"/>
                </a:solidFill>
                <a:latin typeface="Noto Sans JP"/>
              </a:rPr>
              <a:t>CodeDeploy</a:t>
            </a:r>
            <a:r>
              <a:rPr lang="en-US" sz="2800" dirty="0">
                <a:solidFill>
                  <a:schemeClr val="bg1"/>
                </a:solidFill>
                <a:latin typeface="Noto Sans JP"/>
              </a:rPr>
              <a:t> to manage a deployment. It defines how the application should be installed and what scripts should run at different stages of the deployment. </a:t>
            </a:r>
          </a:p>
          <a:p>
            <a:r>
              <a:rPr lang="en-US" sz="2800" dirty="0">
                <a:solidFill>
                  <a:schemeClr val="bg1"/>
                </a:solidFill>
                <a:latin typeface="Noto Sans JP"/>
              </a:rPr>
              <a:t>For EC2/On-Premises deployments, this file must be named </a:t>
            </a:r>
            <a:r>
              <a:rPr lang="en-US" sz="2800" dirty="0" err="1">
                <a:solidFill>
                  <a:schemeClr val="bg1"/>
                </a:solidFill>
                <a:latin typeface="Noto Sans JP"/>
              </a:rPr>
              <a:t>appspec.yml</a:t>
            </a:r>
            <a:r>
              <a:rPr lang="en-US" sz="2800" dirty="0">
                <a:solidFill>
                  <a:schemeClr val="bg1"/>
                </a:solidFill>
                <a:latin typeface="Noto Sans JP"/>
              </a:rPr>
              <a:t> and placed in the root directory of your application's source code. </a:t>
            </a:r>
          </a:p>
        </p:txBody>
      </p:sp>
    </p:spTree>
    <p:extLst>
      <p:ext uri="{BB962C8B-B14F-4D97-AF65-F5344CB8AC3E}">
        <p14:creationId xmlns:p14="http://schemas.microsoft.com/office/powerpoint/2010/main" val="863795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D66EF-2FCB-CF09-0B28-692B6E2842D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F3D91C5-74F3-657B-0608-9F109537387D}"/>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62853ECD-00B0-1280-1D7A-B2597A8A34C8}"/>
              </a:ext>
            </a:extLst>
          </p:cNvPr>
          <p:cNvSpPr/>
          <p:nvPr/>
        </p:nvSpPr>
        <p:spPr>
          <a:xfrm>
            <a:off x="608370" y="923330"/>
            <a:ext cx="10975259" cy="5693866"/>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err="1">
                <a:solidFill>
                  <a:schemeClr val="bg1"/>
                </a:solidFill>
                <a:latin typeface="Noto Sans JP"/>
              </a:rPr>
              <a:t>appsec.yml</a:t>
            </a:r>
            <a:br>
              <a:rPr lang="en-US" sz="2800" b="1" dirty="0">
                <a:solidFill>
                  <a:schemeClr val="bg1"/>
                </a:solidFill>
                <a:latin typeface="Noto Sans JP"/>
              </a:rPr>
            </a:br>
            <a:r>
              <a:rPr lang="en-US" sz="2000" dirty="0">
                <a:solidFill>
                  <a:schemeClr val="bg1"/>
                </a:solidFill>
                <a:latin typeface="Noto Sans JP"/>
              </a:rPr>
              <a:t>This "bare-bones" example copies all files from your project to a specific folder on a Linux server and runs one script after installation.</a:t>
            </a:r>
          </a:p>
          <a:p>
            <a:endParaRPr lang="en-US" sz="2000" dirty="0">
              <a:solidFill>
                <a:schemeClr val="bg1"/>
              </a:solidFill>
              <a:latin typeface="Noto Sans JP"/>
            </a:endParaRPr>
          </a:p>
          <a:p>
            <a:r>
              <a:rPr lang="en-US" sz="2000" dirty="0">
                <a:solidFill>
                  <a:schemeClr val="bg1"/>
                </a:solidFill>
                <a:latin typeface="Noto Sans JP"/>
              </a:rPr>
              <a:t>version: 0.0</a:t>
            </a:r>
          </a:p>
          <a:p>
            <a:r>
              <a:rPr lang="en-US" sz="2000" dirty="0" err="1">
                <a:solidFill>
                  <a:schemeClr val="bg1"/>
                </a:solidFill>
                <a:latin typeface="Noto Sans JP"/>
              </a:rPr>
              <a:t>os</a:t>
            </a:r>
            <a:r>
              <a:rPr lang="en-US" sz="2000" dirty="0">
                <a:solidFill>
                  <a:schemeClr val="bg1"/>
                </a:solidFill>
                <a:latin typeface="Noto Sans JP"/>
              </a:rPr>
              <a:t>: </a:t>
            </a:r>
            <a:r>
              <a:rPr lang="en-US" sz="2000" dirty="0" err="1">
                <a:solidFill>
                  <a:schemeClr val="bg1"/>
                </a:solidFill>
                <a:latin typeface="Noto Sans JP"/>
              </a:rPr>
              <a:t>linux</a:t>
            </a:r>
            <a:endParaRPr lang="en-US" sz="2000" dirty="0">
              <a:solidFill>
                <a:schemeClr val="bg1"/>
              </a:solidFill>
              <a:latin typeface="Noto Sans JP"/>
            </a:endParaRPr>
          </a:p>
          <a:p>
            <a:r>
              <a:rPr lang="en-US" sz="2000" dirty="0">
                <a:solidFill>
                  <a:schemeClr val="bg1"/>
                </a:solidFill>
                <a:latin typeface="Noto Sans JP"/>
              </a:rPr>
              <a:t>files:</a:t>
            </a:r>
          </a:p>
          <a:p>
            <a:r>
              <a:rPr lang="en-US" sz="2000" dirty="0">
                <a:solidFill>
                  <a:schemeClr val="bg1"/>
                </a:solidFill>
                <a:latin typeface="Noto Sans JP"/>
              </a:rPr>
              <a:t>  - source: /</a:t>
            </a:r>
          </a:p>
          <a:p>
            <a:r>
              <a:rPr lang="en-US" sz="2000" dirty="0">
                <a:solidFill>
                  <a:schemeClr val="bg1"/>
                </a:solidFill>
                <a:latin typeface="Noto Sans JP"/>
              </a:rPr>
              <a:t>    destination: /var/www/html</a:t>
            </a:r>
          </a:p>
          <a:p>
            <a:r>
              <a:rPr lang="en-US" sz="2000" dirty="0">
                <a:solidFill>
                  <a:schemeClr val="bg1"/>
                </a:solidFill>
                <a:latin typeface="Noto Sans JP"/>
              </a:rPr>
              <a:t>hooks:</a:t>
            </a:r>
          </a:p>
          <a:p>
            <a:r>
              <a:rPr lang="en-US" sz="2000" dirty="0">
                <a:solidFill>
                  <a:schemeClr val="bg1"/>
                </a:solidFill>
                <a:latin typeface="Noto Sans JP"/>
              </a:rPr>
              <a:t>  </a:t>
            </a:r>
            <a:r>
              <a:rPr lang="en-US" sz="2000" dirty="0" err="1">
                <a:solidFill>
                  <a:schemeClr val="bg1"/>
                </a:solidFill>
                <a:latin typeface="Noto Sans JP"/>
              </a:rPr>
              <a:t>AfterInstall</a:t>
            </a:r>
            <a:r>
              <a:rPr lang="en-US" sz="2000" dirty="0">
                <a:solidFill>
                  <a:schemeClr val="bg1"/>
                </a:solidFill>
                <a:latin typeface="Noto Sans JP"/>
              </a:rPr>
              <a:t>:</a:t>
            </a:r>
          </a:p>
          <a:p>
            <a:r>
              <a:rPr lang="en-US" sz="2000" dirty="0">
                <a:solidFill>
                  <a:schemeClr val="bg1"/>
                </a:solidFill>
                <a:latin typeface="Noto Sans JP"/>
              </a:rPr>
              <a:t>    - location: scripts/install_dependencies.sh</a:t>
            </a:r>
          </a:p>
          <a:p>
            <a:r>
              <a:rPr lang="en-US" sz="2000" dirty="0">
                <a:solidFill>
                  <a:schemeClr val="bg1"/>
                </a:solidFill>
                <a:latin typeface="Noto Sans JP"/>
              </a:rPr>
              <a:t>      timeout: 300</a:t>
            </a:r>
          </a:p>
          <a:p>
            <a:r>
              <a:rPr lang="en-US" sz="2000" dirty="0">
                <a:solidFill>
                  <a:schemeClr val="bg1"/>
                </a:solidFill>
                <a:latin typeface="Noto Sans JP"/>
              </a:rPr>
              <a:t>      </a:t>
            </a:r>
            <a:r>
              <a:rPr lang="en-US" sz="2000" dirty="0" err="1">
                <a:solidFill>
                  <a:schemeClr val="bg1"/>
                </a:solidFill>
                <a:latin typeface="Noto Sans JP"/>
              </a:rPr>
              <a:t>runas</a:t>
            </a:r>
            <a:r>
              <a:rPr lang="en-US" sz="2000" dirty="0">
                <a:solidFill>
                  <a:schemeClr val="bg1"/>
                </a:solidFill>
                <a:latin typeface="Noto Sans JP"/>
              </a:rPr>
              <a:t>: root</a:t>
            </a:r>
          </a:p>
        </p:txBody>
      </p:sp>
    </p:spTree>
    <p:extLst>
      <p:ext uri="{BB962C8B-B14F-4D97-AF65-F5344CB8AC3E}">
        <p14:creationId xmlns:p14="http://schemas.microsoft.com/office/powerpoint/2010/main" val="591154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53239-BDAE-7CAD-7E18-8D199121964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C5FD216-67FB-32AB-2233-B38E7A96F79B}"/>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15BFD213-8A60-EFEC-BB58-F452F9250DAC}"/>
              </a:ext>
            </a:extLst>
          </p:cNvPr>
          <p:cNvSpPr/>
          <p:nvPr/>
        </p:nvSpPr>
        <p:spPr>
          <a:xfrm>
            <a:off x="608370" y="923330"/>
            <a:ext cx="10975259" cy="5293757"/>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err="1">
                <a:solidFill>
                  <a:schemeClr val="bg1"/>
                </a:solidFill>
                <a:latin typeface="Noto Sans JP"/>
              </a:rPr>
              <a:t>appsec.yml</a:t>
            </a:r>
            <a:br>
              <a:rPr lang="en-US" sz="2800" b="1" dirty="0">
                <a:solidFill>
                  <a:schemeClr val="bg1"/>
                </a:solidFill>
                <a:latin typeface="Noto Sans JP"/>
              </a:rPr>
            </a:br>
            <a:r>
              <a:rPr lang="en-US" sz="2000" dirty="0">
                <a:solidFill>
                  <a:schemeClr val="bg1"/>
                </a:solidFill>
                <a:latin typeface="Noto Sans JP"/>
              </a:rPr>
              <a:t>Detailed Breakdown of Sections</a:t>
            </a:r>
          </a:p>
          <a:p>
            <a:r>
              <a:rPr lang="en-US" sz="2000" dirty="0">
                <a:solidFill>
                  <a:schemeClr val="bg1"/>
                </a:solidFill>
                <a:latin typeface="Noto Sans JP"/>
              </a:rPr>
              <a:t>1. Version (version: 0.0)</a:t>
            </a:r>
          </a:p>
          <a:p>
            <a:r>
              <a:rPr lang="en-US" sz="2000" dirty="0">
                <a:solidFill>
                  <a:schemeClr val="bg1"/>
                </a:solidFill>
                <a:latin typeface="Noto Sans JP"/>
              </a:rPr>
              <a:t>This specifies the </a:t>
            </a:r>
            <a:r>
              <a:rPr lang="en-US" sz="2000" dirty="0" err="1">
                <a:solidFill>
                  <a:schemeClr val="bg1"/>
                </a:solidFill>
                <a:latin typeface="Noto Sans JP"/>
              </a:rPr>
              <a:t>AppSpec</a:t>
            </a:r>
            <a:r>
              <a:rPr lang="en-US" sz="2000" dirty="0">
                <a:solidFill>
                  <a:schemeClr val="bg1"/>
                </a:solidFill>
                <a:latin typeface="Noto Sans JP"/>
              </a:rPr>
              <a:t> file format version.</a:t>
            </a:r>
          </a:p>
          <a:p>
            <a:r>
              <a:rPr lang="en-US" sz="2000" dirty="0">
                <a:solidFill>
                  <a:schemeClr val="bg1"/>
                </a:solidFill>
                <a:latin typeface="Noto Sans JP"/>
              </a:rPr>
              <a:t>Important: Currently, the only allowed value is 0.0. </a:t>
            </a:r>
          </a:p>
          <a:p>
            <a:r>
              <a:rPr lang="en-US" sz="2000" dirty="0">
                <a:solidFill>
                  <a:schemeClr val="bg1"/>
                </a:solidFill>
                <a:latin typeface="Noto Sans JP"/>
              </a:rPr>
              <a:t>2. Operating System (</a:t>
            </a:r>
            <a:r>
              <a:rPr lang="en-US" sz="2000" dirty="0" err="1">
                <a:solidFill>
                  <a:schemeClr val="bg1"/>
                </a:solidFill>
                <a:latin typeface="Noto Sans JP"/>
              </a:rPr>
              <a:t>os</a:t>
            </a:r>
            <a:r>
              <a:rPr lang="en-US" sz="2000" dirty="0">
                <a:solidFill>
                  <a:schemeClr val="bg1"/>
                </a:solidFill>
                <a:latin typeface="Noto Sans JP"/>
              </a:rPr>
              <a:t>)</a:t>
            </a:r>
          </a:p>
          <a:p>
            <a:r>
              <a:rPr lang="en-US" sz="2000" dirty="0">
                <a:solidFill>
                  <a:schemeClr val="bg1"/>
                </a:solidFill>
                <a:latin typeface="Noto Sans JP"/>
              </a:rPr>
              <a:t>Specifies the OS of your target instance.</a:t>
            </a:r>
          </a:p>
          <a:p>
            <a:r>
              <a:rPr lang="en-US" sz="2000" dirty="0">
                <a:solidFill>
                  <a:schemeClr val="bg1"/>
                </a:solidFill>
                <a:latin typeface="Noto Sans JP"/>
              </a:rPr>
              <a:t>Values: </a:t>
            </a:r>
            <a:r>
              <a:rPr lang="en-US" sz="2000" dirty="0" err="1">
                <a:solidFill>
                  <a:schemeClr val="bg1"/>
                </a:solidFill>
                <a:latin typeface="Noto Sans JP"/>
              </a:rPr>
              <a:t>linux</a:t>
            </a:r>
            <a:r>
              <a:rPr lang="en-US" sz="2000" dirty="0">
                <a:solidFill>
                  <a:schemeClr val="bg1"/>
                </a:solidFill>
                <a:latin typeface="Noto Sans JP"/>
              </a:rPr>
              <a:t> or windows. </a:t>
            </a:r>
          </a:p>
          <a:p>
            <a:r>
              <a:rPr lang="en-US" sz="2000" dirty="0">
                <a:solidFill>
                  <a:schemeClr val="bg1"/>
                </a:solidFill>
                <a:latin typeface="Noto Sans JP"/>
              </a:rPr>
              <a:t>3. Files (files)</a:t>
            </a:r>
          </a:p>
          <a:p>
            <a:r>
              <a:rPr lang="en-US" sz="2000" dirty="0">
                <a:solidFill>
                  <a:schemeClr val="bg1"/>
                </a:solidFill>
                <a:latin typeface="Noto Sans JP"/>
              </a:rPr>
              <a:t>This section tells </a:t>
            </a:r>
            <a:r>
              <a:rPr lang="en-US" sz="2000" dirty="0" err="1">
                <a:solidFill>
                  <a:schemeClr val="bg1"/>
                </a:solidFill>
                <a:latin typeface="Noto Sans JP"/>
              </a:rPr>
              <a:t>CodeDeploy</a:t>
            </a:r>
            <a:r>
              <a:rPr lang="en-US" sz="2000" dirty="0">
                <a:solidFill>
                  <a:schemeClr val="bg1"/>
                </a:solidFill>
                <a:latin typeface="Noto Sans JP"/>
              </a:rPr>
              <a:t> which files to copy from your "artifact" (from the build stage) to the server.</a:t>
            </a:r>
          </a:p>
          <a:p>
            <a:r>
              <a:rPr lang="en-US" sz="2000" dirty="0">
                <a:solidFill>
                  <a:schemeClr val="bg1"/>
                </a:solidFill>
                <a:latin typeface="Noto Sans JP"/>
              </a:rPr>
              <a:t>source: The path to files in your build artifact. A single slash (/) means "everything".</a:t>
            </a:r>
          </a:p>
          <a:p>
            <a:r>
              <a:rPr lang="en-US" sz="2000" dirty="0">
                <a:solidFill>
                  <a:schemeClr val="bg1"/>
                </a:solidFill>
                <a:latin typeface="Noto Sans JP"/>
              </a:rPr>
              <a:t>destination: The folder on your target server where those files should be placed. </a:t>
            </a:r>
          </a:p>
          <a:p>
            <a:endParaRPr lang="en-US" sz="1600" dirty="0">
              <a:solidFill>
                <a:schemeClr val="bg1"/>
              </a:solidFill>
              <a:latin typeface="Noto Sans JP"/>
            </a:endParaRPr>
          </a:p>
        </p:txBody>
      </p:sp>
    </p:spTree>
    <p:extLst>
      <p:ext uri="{BB962C8B-B14F-4D97-AF65-F5344CB8AC3E}">
        <p14:creationId xmlns:p14="http://schemas.microsoft.com/office/powerpoint/2010/main" val="2096749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2DFDD-6D02-628A-2A68-506B55AB09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F769CED-57D3-7850-62F8-348F5F69A5C4}"/>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3B610818-353D-3F0D-7937-25B90B604037}"/>
              </a:ext>
            </a:extLst>
          </p:cNvPr>
          <p:cNvSpPr/>
          <p:nvPr/>
        </p:nvSpPr>
        <p:spPr>
          <a:xfrm>
            <a:off x="608370" y="923330"/>
            <a:ext cx="10975259" cy="4401205"/>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err="1">
                <a:solidFill>
                  <a:schemeClr val="bg1"/>
                </a:solidFill>
                <a:latin typeface="Noto Sans JP"/>
              </a:rPr>
              <a:t>appsec.yml</a:t>
            </a:r>
            <a:br>
              <a:rPr lang="en-US" sz="2800" b="1" dirty="0">
                <a:solidFill>
                  <a:schemeClr val="bg1"/>
                </a:solidFill>
                <a:latin typeface="Noto Sans JP"/>
              </a:rPr>
            </a:br>
            <a:r>
              <a:rPr lang="en-US" sz="2000" dirty="0">
                <a:solidFill>
                  <a:schemeClr val="bg1"/>
                </a:solidFill>
                <a:latin typeface="Noto Sans JP"/>
              </a:rPr>
              <a:t>4. Hooks (hooks)</a:t>
            </a:r>
          </a:p>
          <a:p>
            <a:r>
              <a:rPr lang="en-US" sz="2000" dirty="0">
                <a:solidFill>
                  <a:schemeClr val="bg1"/>
                </a:solidFill>
                <a:latin typeface="Noto Sans JP"/>
              </a:rPr>
              <a:t>Hooks are "lifecycle events" that trigger specific scripts during the deployment.</a:t>
            </a:r>
          </a:p>
          <a:p>
            <a:r>
              <a:rPr lang="en-US" sz="2000" dirty="0" err="1">
                <a:solidFill>
                  <a:schemeClr val="bg1"/>
                </a:solidFill>
                <a:latin typeface="Noto Sans JP"/>
              </a:rPr>
              <a:t>AfterInstall</a:t>
            </a:r>
            <a:r>
              <a:rPr lang="en-US" sz="2000" dirty="0">
                <a:solidFill>
                  <a:schemeClr val="bg1"/>
                </a:solidFill>
                <a:latin typeface="Noto Sans JP"/>
              </a:rPr>
              <a:t>: This hook is commonly used to run setup scripts (like </a:t>
            </a:r>
            <a:r>
              <a:rPr lang="en-US" sz="2000" dirty="0" err="1">
                <a:solidFill>
                  <a:schemeClr val="bg1"/>
                </a:solidFill>
                <a:latin typeface="Noto Sans JP"/>
              </a:rPr>
              <a:t>npm</a:t>
            </a:r>
            <a:r>
              <a:rPr lang="en-US" sz="2000" dirty="0">
                <a:solidFill>
                  <a:schemeClr val="bg1"/>
                </a:solidFill>
                <a:latin typeface="Noto Sans JP"/>
              </a:rPr>
              <a:t> install on the server) immediately after the files are copied.</a:t>
            </a:r>
          </a:p>
          <a:p>
            <a:r>
              <a:rPr lang="en-US" sz="2000" dirty="0">
                <a:solidFill>
                  <a:schemeClr val="bg1"/>
                </a:solidFill>
                <a:latin typeface="Noto Sans JP"/>
              </a:rPr>
              <a:t>location: The path to the script inside your project.</a:t>
            </a:r>
          </a:p>
          <a:p>
            <a:r>
              <a:rPr lang="en-US" sz="2000" dirty="0">
                <a:solidFill>
                  <a:schemeClr val="bg1"/>
                </a:solidFill>
                <a:latin typeface="Noto Sans JP"/>
              </a:rPr>
              <a:t>timeout: How long (in seconds) </a:t>
            </a:r>
            <a:r>
              <a:rPr lang="en-US" sz="2000" dirty="0" err="1">
                <a:solidFill>
                  <a:schemeClr val="bg1"/>
                </a:solidFill>
                <a:latin typeface="Noto Sans JP"/>
              </a:rPr>
              <a:t>CodeDeploy</a:t>
            </a:r>
            <a:r>
              <a:rPr lang="en-US" sz="2000" dirty="0">
                <a:solidFill>
                  <a:schemeClr val="bg1"/>
                </a:solidFill>
                <a:latin typeface="Noto Sans JP"/>
              </a:rPr>
              <a:t> should wait for the script to finish before failing the deployment.</a:t>
            </a:r>
            <a:br>
              <a:rPr lang="en-US" sz="2000" dirty="0">
                <a:solidFill>
                  <a:schemeClr val="bg1"/>
                </a:solidFill>
                <a:latin typeface="Noto Sans JP"/>
              </a:rPr>
            </a:br>
            <a:r>
              <a:rPr lang="en-US" sz="2000" dirty="0" err="1">
                <a:solidFill>
                  <a:schemeClr val="bg1"/>
                </a:solidFill>
                <a:latin typeface="Noto Sans JP"/>
              </a:rPr>
              <a:t>runas</a:t>
            </a:r>
            <a:r>
              <a:rPr lang="en-US" sz="2000" dirty="0">
                <a:solidFill>
                  <a:schemeClr val="bg1"/>
                </a:solidFill>
                <a:latin typeface="Noto Sans JP"/>
              </a:rPr>
              <a:t>: The user account on the server that should execute the script (e.g., root, ubuntu, or ec2-user). </a:t>
            </a:r>
          </a:p>
          <a:p>
            <a:endParaRPr lang="en-US" sz="1600" dirty="0">
              <a:solidFill>
                <a:schemeClr val="bg1"/>
              </a:solidFill>
              <a:latin typeface="Noto Sans JP"/>
            </a:endParaRPr>
          </a:p>
        </p:txBody>
      </p:sp>
    </p:spTree>
    <p:extLst>
      <p:ext uri="{BB962C8B-B14F-4D97-AF65-F5344CB8AC3E}">
        <p14:creationId xmlns:p14="http://schemas.microsoft.com/office/powerpoint/2010/main" val="2586592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DFAF9-1721-C3CC-CFEC-8672A19E720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6E23E09-580C-432A-EA24-EE532DEE8C9D}"/>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50082E1B-59C7-3C40-2754-6B15E9302334}"/>
              </a:ext>
            </a:extLst>
          </p:cNvPr>
          <p:cNvSpPr/>
          <p:nvPr/>
        </p:nvSpPr>
        <p:spPr>
          <a:xfrm>
            <a:off x="608370" y="923330"/>
            <a:ext cx="10975259" cy="5016758"/>
          </a:xfrm>
          <a:prstGeom prst="rect">
            <a:avLst/>
          </a:prstGeom>
          <a:solidFill>
            <a:srgbClr val="FFFF00"/>
          </a:solidFill>
        </p:spPr>
        <p:txBody>
          <a:bodyPr wrap="square" lIns="91440" tIns="45720" rIns="91440" bIns="45720">
            <a:spAutoFit/>
          </a:bodyPr>
          <a:lstStyle/>
          <a:p>
            <a:pPr algn="ctr"/>
            <a:r>
              <a:rPr lang="en-US" sz="4800" dirty="0" err="1">
                <a:solidFill>
                  <a:srgbClr val="FF0000"/>
                </a:solidFill>
                <a:latin typeface="Noto Sans JP"/>
              </a:rPr>
              <a:t>buildspec.yml</a:t>
            </a:r>
            <a:r>
              <a:rPr lang="en-US" sz="4800" dirty="0">
                <a:solidFill>
                  <a:srgbClr val="FF0000"/>
                </a:solidFill>
                <a:latin typeface="Noto Sans JP"/>
              </a:rPr>
              <a:t> and </a:t>
            </a:r>
            <a:r>
              <a:rPr lang="en-US" sz="4800" dirty="0" err="1">
                <a:solidFill>
                  <a:srgbClr val="FF0000"/>
                </a:solidFill>
                <a:latin typeface="Noto Sans JP"/>
              </a:rPr>
              <a:t>appspec.yml</a:t>
            </a:r>
            <a:endParaRPr lang="en-US" sz="2800" dirty="0">
              <a:solidFill>
                <a:schemeClr val="bg1"/>
              </a:solidFill>
              <a:latin typeface="Noto Sans JP"/>
            </a:endParaRPr>
          </a:p>
          <a:p>
            <a:br>
              <a:rPr lang="en-US" sz="2800" b="1" dirty="0">
                <a:solidFill>
                  <a:schemeClr val="bg1"/>
                </a:solidFill>
                <a:latin typeface="Noto Sans JP"/>
              </a:rPr>
            </a:br>
            <a:r>
              <a:rPr lang="en-US" sz="2800" b="1" dirty="0" err="1">
                <a:solidFill>
                  <a:schemeClr val="bg1"/>
                </a:solidFill>
                <a:latin typeface="Noto Sans JP"/>
              </a:rPr>
              <a:t>appsec.yml</a:t>
            </a:r>
            <a:br>
              <a:rPr lang="en-US" sz="2800" b="1" dirty="0">
                <a:solidFill>
                  <a:schemeClr val="bg1"/>
                </a:solidFill>
                <a:latin typeface="Noto Sans JP"/>
              </a:rPr>
            </a:br>
            <a:r>
              <a:rPr lang="en-US" sz="2400" dirty="0">
                <a:solidFill>
                  <a:schemeClr val="bg1"/>
                </a:solidFill>
                <a:latin typeface="Noto Sans JP"/>
              </a:rPr>
              <a:t>Key Common Hooks</a:t>
            </a:r>
          </a:p>
          <a:p>
            <a:r>
              <a:rPr lang="en-US" sz="2400" dirty="0" err="1">
                <a:solidFill>
                  <a:schemeClr val="bg1"/>
                </a:solidFill>
                <a:latin typeface="Noto Sans JP"/>
              </a:rPr>
              <a:t>BeforeInstall</a:t>
            </a:r>
            <a:r>
              <a:rPr lang="en-US" sz="2400" dirty="0">
                <a:solidFill>
                  <a:schemeClr val="bg1"/>
                </a:solidFill>
                <a:latin typeface="Noto Sans JP"/>
              </a:rPr>
              <a:t>: Used for tasks like decrypting files or deleting old files before the new ones arrive.</a:t>
            </a:r>
          </a:p>
          <a:p>
            <a:r>
              <a:rPr lang="en-US" sz="2400" dirty="0" err="1">
                <a:solidFill>
                  <a:schemeClr val="bg1"/>
                </a:solidFill>
                <a:latin typeface="Noto Sans JP"/>
              </a:rPr>
              <a:t>AfterInstall</a:t>
            </a:r>
            <a:r>
              <a:rPr lang="en-US" sz="2400" dirty="0">
                <a:solidFill>
                  <a:schemeClr val="bg1"/>
                </a:solidFill>
                <a:latin typeface="Noto Sans JP"/>
              </a:rPr>
              <a:t>: Used for configuration tasks or installing additional server-side dependencies.</a:t>
            </a:r>
          </a:p>
          <a:p>
            <a:r>
              <a:rPr lang="en-US" sz="2400" dirty="0" err="1">
                <a:solidFill>
                  <a:schemeClr val="bg1"/>
                </a:solidFill>
                <a:latin typeface="Noto Sans JP"/>
              </a:rPr>
              <a:t>ApplicationStart</a:t>
            </a:r>
            <a:r>
              <a:rPr lang="en-US" sz="2400" dirty="0">
                <a:solidFill>
                  <a:schemeClr val="bg1"/>
                </a:solidFill>
                <a:latin typeface="Noto Sans JP"/>
              </a:rPr>
              <a:t>: Used to start the web server or application (e.g., service apache2 start).</a:t>
            </a:r>
          </a:p>
          <a:p>
            <a:r>
              <a:rPr lang="en-US" sz="2400" dirty="0" err="1">
                <a:solidFill>
                  <a:schemeClr val="bg1"/>
                </a:solidFill>
                <a:latin typeface="Noto Sans JP"/>
              </a:rPr>
              <a:t>ValidateService</a:t>
            </a:r>
            <a:r>
              <a:rPr lang="en-US" sz="2400" dirty="0">
                <a:solidFill>
                  <a:schemeClr val="bg1"/>
                </a:solidFill>
                <a:latin typeface="Noto Sans JP"/>
              </a:rPr>
              <a:t>: The final step to verify that the application is running correctly (e.g., by checking if a local URL returns a 200 OK status). </a:t>
            </a:r>
            <a:endParaRPr lang="en-US" dirty="0">
              <a:solidFill>
                <a:schemeClr val="bg1"/>
              </a:solidFill>
              <a:latin typeface="Noto Sans JP"/>
            </a:endParaRPr>
          </a:p>
        </p:txBody>
      </p:sp>
    </p:spTree>
    <p:extLst>
      <p:ext uri="{BB962C8B-B14F-4D97-AF65-F5344CB8AC3E}">
        <p14:creationId xmlns:p14="http://schemas.microsoft.com/office/powerpoint/2010/main" val="3733795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36D9-1FA3-A0E9-F13C-842CACFC843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18FDD9E-FA0E-F8A8-1F96-2BA18F471730}"/>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C5F6D9CB-5952-C156-29C6-1A0E0A5C5BAA}"/>
              </a:ext>
            </a:extLst>
          </p:cNvPr>
          <p:cNvSpPr/>
          <p:nvPr/>
        </p:nvSpPr>
        <p:spPr>
          <a:xfrm>
            <a:off x="608370" y="923330"/>
            <a:ext cx="10975259" cy="5570756"/>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Jenkins vs AWS Pipeline</a:t>
            </a:r>
            <a:endParaRPr lang="en-US" sz="2800" dirty="0">
              <a:solidFill>
                <a:schemeClr val="bg1"/>
              </a:solidFill>
              <a:latin typeface="Noto Sans JP"/>
            </a:endParaRPr>
          </a:p>
          <a:p>
            <a:br>
              <a:rPr lang="en-US" sz="2800" b="1" dirty="0">
                <a:solidFill>
                  <a:schemeClr val="bg1"/>
                </a:solidFill>
                <a:latin typeface="Noto Sans JP"/>
              </a:rPr>
            </a:br>
            <a:endParaRPr lang="en-US" sz="2800" b="1" dirty="0">
              <a:solidFill>
                <a:schemeClr val="bg1"/>
              </a:solidFill>
              <a:latin typeface="Noto Sans JP"/>
            </a:endParaRPr>
          </a:p>
          <a:p>
            <a:endParaRPr lang="en-US" sz="2800" b="1" dirty="0">
              <a:solidFill>
                <a:schemeClr val="bg1"/>
              </a:solidFill>
              <a:latin typeface="Noto Sans JP"/>
            </a:endParaRPr>
          </a:p>
          <a:p>
            <a:endParaRPr lang="en-US" sz="2800" b="1" dirty="0">
              <a:solidFill>
                <a:schemeClr val="bg1"/>
              </a:solidFill>
              <a:latin typeface="Noto Sans JP"/>
            </a:endParaRPr>
          </a:p>
          <a:p>
            <a:endParaRPr lang="en-US" sz="2800" b="1" dirty="0">
              <a:solidFill>
                <a:schemeClr val="bg1"/>
              </a:solidFill>
              <a:latin typeface="Noto Sans JP"/>
            </a:endParaRPr>
          </a:p>
          <a:p>
            <a:endParaRPr lang="en-US" sz="2800" b="1" dirty="0">
              <a:solidFill>
                <a:schemeClr val="bg1"/>
              </a:solidFill>
              <a:latin typeface="Noto Sans JP"/>
            </a:endParaRPr>
          </a:p>
          <a:p>
            <a:endParaRPr lang="en-US" sz="2800" b="1" dirty="0">
              <a:solidFill>
                <a:schemeClr val="bg1"/>
              </a:solidFill>
              <a:latin typeface="Noto Sans JP"/>
            </a:endParaRPr>
          </a:p>
          <a:p>
            <a:endParaRPr lang="en-US" sz="2800" b="1" dirty="0">
              <a:solidFill>
                <a:schemeClr val="bg1"/>
              </a:solidFill>
              <a:latin typeface="Noto Sans JP"/>
            </a:endParaRPr>
          </a:p>
          <a:p>
            <a:endParaRPr lang="en-US" sz="2800" b="1" dirty="0">
              <a:solidFill>
                <a:schemeClr val="bg1"/>
              </a:solidFill>
              <a:latin typeface="Noto Sans JP"/>
            </a:endParaRPr>
          </a:p>
          <a:p>
            <a:endParaRPr lang="en-US" sz="2800" b="1" dirty="0">
              <a:solidFill>
                <a:schemeClr val="bg1"/>
              </a:solidFill>
              <a:latin typeface="Noto Sans JP"/>
            </a:endParaRPr>
          </a:p>
          <a:p>
            <a:endParaRPr lang="en-US" sz="2800" b="1" dirty="0" err="1">
              <a:solidFill>
                <a:schemeClr val="bg1"/>
              </a:solidFill>
              <a:latin typeface="Noto Sans JP"/>
            </a:endParaRPr>
          </a:p>
        </p:txBody>
      </p:sp>
      <p:pic>
        <p:nvPicPr>
          <p:cNvPr id="4" name="Picture 3" descr="Cartoon two men in boxing gloves&#10;&#10;AI-generated content may be incorrect.">
            <a:extLst>
              <a:ext uri="{FF2B5EF4-FFF2-40B4-BE49-F238E27FC236}">
                <a16:creationId xmlns:a16="http://schemas.microsoft.com/office/drawing/2014/main" id="{DDBBD348-1004-20FC-CE20-C3B04AF03E7D}"/>
              </a:ext>
            </a:extLst>
          </p:cNvPr>
          <p:cNvPicPr>
            <a:picLocks noChangeAspect="1"/>
          </p:cNvPicPr>
          <p:nvPr/>
        </p:nvPicPr>
        <p:blipFill>
          <a:blip r:embed="rId2"/>
          <a:stretch>
            <a:fillRect/>
          </a:stretch>
        </p:blipFill>
        <p:spPr>
          <a:xfrm>
            <a:off x="2637624" y="1846660"/>
            <a:ext cx="7156615" cy="3701070"/>
          </a:xfrm>
          <a:prstGeom prst="rect">
            <a:avLst/>
          </a:prstGeom>
        </p:spPr>
      </p:pic>
    </p:spTree>
    <p:extLst>
      <p:ext uri="{BB962C8B-B14F-4D97-AF65-F5344CB8AC3E}">
        <p14:creationId xmlns:p14="http://schemas.microsoft.com/office/powerpoint/2010/main" val="278771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141AC-0454-F093-75B8-039EDDB951E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D6F46E8-4106-316A-8820-81F8B06C82A3}"/>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5C17A509-5113-ABE5-CBA2-04C9273E02E4}"/>
              </a:ext>
            </a:extLst>
          </p:cNvPr>
          <p:cNvSpPr/>
          <p:nvPr/>
        </p:nvSpPr>
        <p:spPr>
          <a:xfrm>
            <a:off x="608370" y="923330"/>
            <a:ext cx="10975259" cy="4585871"/>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Jenkins vs AWS Pipeline</a:t>
            </a:r>
            <a:endParaRPr lang="en-US" sz="2800" dirty="0">
              <a:solidFill>
                <a:schemeClr val="bg1"/>
              </a:solidFill>
              <a:latin typeface="Noto Sans JP"/>
            </a:endParaRPr>
          </a:p>
          <a:p>
            <a:br>
              <a:rPr lang="en-US" sz="2800" b="1" dirty="0">
                <a:solidFill>
                  <a:schemeClr val="bg1"/>
                </a:solidFill>
                <a:latin typeface="Noto Sans JP"/>
              </a:rPr>
            </a:br>
            <a:r>
              <a:rPr lang="en-US" sz="2400" b="1" dirty="0">
                <a:solidFill>
                  <a:schemeClr val="bg1"/>
                </a:solidFill>
                <a:latin typeface="Noto Sans JP"/>
              </a:rPr>
              <a:t>Jenkins</a:t>
            </a:r>
          </a:p>
          <a:p>
            <a:br>
              <a:rPr lang="en-US" sz="2400" dirty="0">
                <a:solidFill>
                  <a:schemeClr val="bg1"/>
                </a:solidFill>
                <a:latin typeface="Noto Sans JP"/>
              </a:rPr>
            </a:br>
            <a:r>
              <a:rPr lang="en-US" sz="2400" dirty="0">
                <a:solidFill>
                  <a:schemeClr val="bg1"/>
                </a:solidFill>
                <a:latin typeface="Noto Sans JP"/>
              </a:rPr>
              <a:t>Type: Open-source CI/CD tool</a:t>
            </a:r>
          </a:p>
          <a:p>
            <a:r>
              <a:rPr lang="en-US" sz="2400" dirty="0">
                <a:solidFill>
                  <a:schemeClr val="bg1"/>
                </a:solidFill>
                <a:latin typeface="Noto Sans JP"/>
              </a:rPr>
              <a:t>Hosting: Self-hosted (on-prem, EC2, containers)</a:t>
            </a:r>
          </a:p>
          <a:p>
            <a:r>
              <a:rPr lang="en-US" sz="2400" dirty="0">
                <a:solidFill>
                  <a:schemeClr val="bg1"/>
                </a:solidFill>
                <a:latin typeface="Noto Sans JP"/>
              </a:rPr>
              <a:t>Setup &amp; Maintenance: Manual setup, upgrades, scaling, security</a:t>
            </a:r>
          </a:p>
          <a:p>
            <a:r>
              <a:rPr lang="en-US" sz="2400" dirty="0">
                <a:solidFill>
                  <a:schemeClr val="bg1"/>
                </a:solidFill>
                <a:latin typeface="Noto Sans JP"/>
              </a:rPr>
              <a:t>Flexibility: Very high (thousands of plugins)</a:t>
            </a:r>
          </a:p>
          <a:p>
            <a:r>
              <a:rPr lang="en-US" sz="2400" dirty="0">
                <a:solidFill>
                  <a:schemeClr val="bg1"/>
                </a:solidFill>
                <a:latin typeface="Noto Sans JP"/>
              </a:rPr>
              <a:t>Customization: Extensive (custom scripts, plugins, pipelines)</a:t>
            </a:r>
          </a:p>
          <a:p>
            <a:r>
              <a:rPr lang="en-US" sz="2400" dirty="0">
                <a:solidFill>
                  <a:schemeClr val="bg1"/>
                </a:solidFill>
                <a:latin typeface="Noto Sans JP"/>
              </a:rPr>
              <a:t>Integration: Works with almost any tool/platform</a:t>
            </a:r>
          </a:p>
          <a:p>
            <a:r>
              <a:rPr lang="en-US" sz="2400" dirty="0">
                <a:solidFill>
                  <a:schemeClr val="bg1"/>
                </a:solidFill>
                <a:latin typeface="Noto Sans JP"/>
              </a:rPr>
              <a:t>Cost: Free (but infra + maintenance cost)</a:t>
            </a:r>
            <a:endParaRPr lang="en-US" dirty="0">
              <a:solidFill>
                <a:schemeClr val="bg1"/>
              </a:solidFill>
              <a:latin typeface="Noto Sans JP"/>
            </a:endParaRPr>
          </a:p>
        </p:txBody>
      </p:sp>
    </p:spTree>
    <p:extLst>
      <p:ext uri="{BB962C8B-B14F-4D97-AF65-F5344CB8AC3E}">
        <p14:creationId xmlns:p14="http://schemas.microsoft.com/office/powerpoint/2010/main" val="3681811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9F667-C547-C56F-B24C-F740F1BA3C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6AFB097-3FBE-9F8F-6310-88D0B1F79AD8}"/>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F36274E2-B333-8F30-7B8A-D3F369F1DA61}"/>
              </a:ext>
            </a:extLst>
          </p:cNvPr>
          <p:cNvSpPr/>
          <p:nvPr/>
        </p:nvSpPr>
        <p:spPr>
          <a:xfrm>
            <a:off x="608370" y="923330"/>
            <a:ext cx="10975259" cy="5324535"/>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Jenkins vs AWS Pipeline</a:t>
            </a:r>
            <a:endParaRPr lang="en-US" sz="2800" dirty="0">
              <a:solidFill>
                <a:schemeClr val="bg1"/>
              </a:solidFill>
              <a:latin typeface="Noto Sans JP"/>
            </a:endParaRPr>
          </a:p>
          <a:p>
            <a:br>
              <a:rPr lang="en-US" sz="2800" b="1" dirty="0">
                <a:solidFill>
                  <a:schemeClr val="bg1"/>
                </a:solidFill>
                <a:latin typeface="Noto Sans JP"/>
              </a:rPr>
            </a:br>
            <a:br>
              <a:rPr lang="en-US" sz="2400" dirty="0">
                <a:solidFill>
                  <a:schemeClr val="bg1"/>
                </a:solidFill>
                <a:latin typeface="Noto Sans JP"/>
              </a:rPr>
            </a:br>
            <a:r>
              <a:rPr lang="en-US" sz="2400" b="1" dirty="0">
                <a:solidFill>
                  <a:schemeClr val="bg1"/>
                </a:solidFill>
                <a:latin typeface="Noto Sans JP"/>
              </a:rPr>
              <a:t>AWS </a:t>
            </a:r>
            <a:r>
              <a:rPr lang="en-US" sz="2400" b="1" dirty="0" err="1">
                <a:solidFill>
                  <a:schemeClr val="bg1"/>
                </a:solidFill>
                <a:latin typeface="Noto Sans JP"/>
              </a:rPr>
              <a:t>CodePipeline</a:t>
            </a:r>
            <a:br>
              <a:rPr lang="en-US" sz="2400" b="1" dirty="0">
                <a:solidFill>
                  <a:schemeClr val="bg1"/>
                </a:solidFill>
                <a:latin typeface="Noto Sans JP"/>
              </a:rPr>
            </a:br>
            <a:endParaRPr lang="en-US" sz="2400" b="1" dirty="0">
              <a:solidFill>
                <a:schemeClr val="bg1"/>
              </a:solidFill>
              <a:latin typeface="Noto Sans JP"/>
            </a:endParaRPr>
          </a:p>
          <a:p>
            <a:r>
              <a:rPr lang="en-US" sz="2400" dirty="0">
                <a:solidFill>
                  <a:schemeClr val="bg1"/>
                </a:solidFill>
                <a:latin typeface="Noto Sans JP"/>
              </a:rPr>
              <a:t>Type: Fully managed CI/CD service</a:t>
            </a:r>
          </a:p>
          <a:p>
            <a:r>
              <a:rPr lang="en-US" sz="2400" dirty="0">
                <a:solidFill>
                  <a:schemeClr val="bg1"/>
                </a:solidFill>
                <a:latin typeface="Noto Sans JP"/>
              </a:rPr>
              <a:t>Hosting: Managed by AWS</a:t>
            </a:r>
          </a:p>
          <a:p>
            <a:r>
              <a:rPr lang="en-US" sz="2400" dirty="0">
                <a:solidFill>
                  <a:schemeClr val="bg1"/>
                </a:solidFill>
                <a:latin typeface="Noto Sans JP"/>
              </a:rPr>
              <a:t>Setup &amp; Maintenance: Minimal (AWS handles infra, scaling)</a:t>
            </a:r>
          </a:p>
          <a:p>
            <a:r>
              <a:rPr lang="en-US" sz="2400" dirty="0">
                <a:solidFill>
                  <a:schemeClr val="bg1"/>
                </a:solidFill>
                <a:latin typeface="Noto Sans JP"/>
              </a:rPr>
              <a:t>Flexibility: Moderate (AWS-centric)</a:t>
            </a:r>
          </a:p>
          <a:p>
            <a:r>
              <a:rPr lang="en-US" sz="2400" dirty="0">
                <a:solidFill>
                  <a:schemeClr val="bg1"/>
                </a:solidFill>
                <a:latin typeface="Noto Sans JP"/>
              </a:rPr>
              <a:t>Customization: Limited compared to Jenkins</a:t>
            </a:r>
          </a:p>
          <a:p>
            <a:r>
              <a:rPr lang="en-US" sz="2400" dirty="0">
                <a:solidFill>
                  <a:schemeClr val="bg1"/>
                </a:solidFill>
                <a:latin typeface="Noto Sans JP"/>
              </a:rPr>
              <a:t>Integration: Native with AWS services (</a:t>
            </a:r>
            <a:r>
              <a:rPr lang="en-US" sz="2400" dirty="0" err="1">
                <a:solidFill>
                  <a:schemeClr val="bg1"/>
                </a:solidFill>
                <a:latin typeface="Noto Sans JP"/>
              </a:rPr>
              <a:t>CodeBuild</a:t>
            </a:r>
            <a:r>
              <a:rPr lang="en-US" sz="2400" dirty="0">
                <a:solidFill>
                  <a:schemeClr val="bg1"/>
                </a:solidFill>
                <a:latin typeface="Noto Sans JP"/>
              </a:rPr>
              <a:t>, </a:t>
            </a:r>
            <a:r>
              <a:rPr lang="en-US" sz="2400" dirty="0" err="1">
                <a:solidFill>
                  <a:schemeClr val="bg1"/>
                </a:solidFill>
                <a:latin typeface="Noto Sans JP"/>
              </a:rPr>
              <a:t>CodeDeploy</a:t>
            </a:r>
            <a:r>
              <a:rPr lang="en-US" sz="2400" dirty="0">
                <a:solidFill>
                  <a:schemeClr val="bg1"/>
                </a:solidFill>
                <a:latin typeface="Noto Sans JP"/>
              </a:rPr>
              <a:t>, S3, Lambda)</a:t>
            </a:r>
          </a:p>
          <a:p>
            <a:r>
              <a:rPr lang="en-US" sz="2400" dirty="0">
                <a:solidFill>
                  <a:schemeClr val="bg1"/>
                </a:solidFill>
                <a:latin typeface="Noto Sans JP"/>
              </a:rPr>
              <a:t>Cost: Pay-as-you-go per pipeline</a:t>
            </a:r>
          </a:p>
          <a:p>
            <a:r>
              <a:rPr lang="en-US" sz="2400" dirty="0">
                <a:solidFill>
                  <a:schemeClr val="bg1"/>
                </a:solidFill>
                <a:latin typeface="Noto Sans JP"/>
              </a:rPr>
              <a:t>Scalability: Automatic</a:t>
            </a:r>
          </a:p>
        </p:txBody>
      </p:sp>
    </p:spTree>
    <p:extLst>
      <p:ext uri="{BB962C8B-B14F-4D97-AF65-F5344CB8AC3E}">
        <p14:creationId xmlns:p14="http://schemas.microsoft.com/office/powerpoint/2010/main" val="195154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97429-A107-E4D3-3054-C2392A198BD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B2A2813-B32D-228A-1E94-5FC2971F3C08}"/>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C80F1C47-38B4-6C96-1B3F-CA551D3B1A60}"/>
              </a:ext>
            </a:extLst>
          </p:cNvPr>
          <p:cNvSpPr/>
          <p:nvPr/>
        </p:nvSpPr>
        <p:spPr>
          <a:xfrm>
            <a:off x="608370" y="923330"/>
            <a:ext cx="10975259" cy="5324535"/>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Jenkins vs AWS Pipeline</a:t>
            </a:r>
            <a:endParaRPr lang="en-US" sz="2800" dirty="0">
              <a:solidFill>
                <a:schemeClr val="bg1"/>
              </a:solidFill>
              <a:latin typeface="Noto Sans JP"/>
            </a:endParaRPr>
          </a:p>
          <a:p>
            <a:br>
              <a:rPr lang="en-US" sz="2800" b="1" dirty="0">
                <a:solidFill>
                  <a:schemeClr val="bg1"/>
                </a:solidFill>
                <a:latin typeface="Noto Sans JP"/>
              </a:rPr>
            </a:br>
            <a:br>
              <a:rPr lang="en-US" sz="2400" dirty="0">
                <a:solidFill>
                  <a:schemeClr val="bg1"/>
                </a:solidFill>
                <a:latin typeface="Noto Sans JP"/>
              </a:rPr>
            </a:br>
            <a:r>
              <a:rPr lang="en-US" sz="2400" b="1" dirty="0">
                <a:solidFill>
                  <a:schemeClr val="bg1"/>
                </a:solidFill>
                <a:latin typeface="Noto Sans JP"/>
              </a:rPr>
              <a:t>AWS </a:t>
            </a:r>
            <a:r>
              <a:rPr lang="en-US" sz="2400" b="1" dirty="0" err="1">
                <a:solidFill>
                  <a:schemeClr val="bg1"/>
                </a:solidFill>
                <a:latin typeface="Noto Sans JP"/>
              </a:rPr>
              <a:t>CodePipeline</a:t>
            </a:r>
            <a:br>
              <a:rPr lang="en-US" sz="2400" b="1" dirty="0">
                <a:solidFill>
                  <a:schemeClr val="bg1"/>
                </a:solidFill>
                <a:latin typeface="Noto Sans JP"/>
              </a:rPr>
            </a:br>
            <a:endParaRPr lang="en-US" sz="2400" b="1" dirty="0">
              <a:solidFill>
                <a:schemeClr val="bg1"/>
              </a:solidFill>
              <a:latin typeface="Noto Sans JP"/>
            </a:endParaRPr>
          </a:p>
          <a:p>
            <a:r>
              <a:rPr lang="en-US" sz="2400" dirty="0">
                <a:solidFill>
                  <a:schemeClr val="bg1"/>
                </a:solidFill>
                <a:latin typeface="Noto Sans JP"/>
              </a:rPr>
              <a:t>Type: Fully managed CI/CD service</a:t>
            </a:r>
          </a:p>
          <a:p>
            <a:r>
              <a:rPr lang="en-US" sz="2400" dirty="0">
                <a:solidFill>
                  <a:schemeClr val="bg1"/>
                </a:solidFill>
                <a:latin typeface="Noto Sans JP"/>
              </a:rPr>
              <a:t>Hosting: Managed by AWS</a:t>
            </a:r>
          </a:p>
          <a:p>
            <a:r>
              <a:rPr lang="en-US" sz="2400" dirty="0">
                <a:solidFill>
                  <a:schemeClr val="bg1"/>
                </a:solidFill>
                <a:latin typeface="Noto Sans JP"/>
              </a:rPr>
              <a:t>Setup &amp; Maintenance: Minimal (AWS handles infra, scaling)</a:t>
            </a:r>
          </a:p>
          <a:p>
            <a:r>
              <a:rPr lang="en-US" sz="2400" dirty="0">
                <a:solidFill>
                  <a:schemeClr val="bg1"/>
                </a:solidFill>
                <a:latin typeface="Noto Sans JP"/>
              </a:rPr>
              <a:t>Flexibility: Moderate (AWS-centric)</a:t>
            </a:r>
          </a:p>
          <a:p>
            <a:r>
              <a:rPr lang="en-US" sz="2400" dirty="0">
                <a:solidFill>
                  <a:schemeClr val="bg1"/>
                </a:solidFill>
                <a:latin typeface="Noto Sans JP"/>
              </a:rPr>
              <a:t>Customization: Limited compared to Jenkins</a:t>
            </a:r>
          </a:p>
          <a:p>
            <a:r>
              <a:rPr lang="en-US" sz="2400" dirty="0">
                <a:solidFill>
                  <a:schemeClr val="bg1"/>
                </a:solidFill>
                <a:latin typeface="Noto Sans JP"/>
              </a:rPr>
              <a:t>Integration: Native with AWS services (</a:t>
            </a:r>
            <a:r>
              <a:rPr lang="en-US" sz="2400" dirty="0" err="1">
                <a:solidFill>
                  <a:schemeClr val="bg1"/>
                </a:solidFill>
                <a:latin typeface="Noto Sans JP"/>
              </a:rPr>
              <a:t>CodeBuild</a:t>
            </a:r>
            <a:r>
              <a:rPr lang="en-US" sz="2400" dirty="0">
                <a:solidFill>
                  <a:schemeClr val="bg1"/>
                </a:solidFill>
                <a:latin typeface="Noto Sans JP"/>
              </a:rPr>
              <a:t>, </a:t>
            </a:r>
            <a:r>
              <a:rPr lang="en-US" sz="2400" dirty="0" err="1">
                <a:solidFill>
                  <a:schemeClr val="bg1"/>
                </a:solidFill>
                <a:latin typeface="Noto Sans JP"/>
              </a:rPr>
              <a:t>CodeDeploy</a:t>
            </a:r>
            <a:r>
              <a:rPr lang="en-US" sz="2400" dirty="0">
                <a:solidFill>
                  <a:schemeClr val="bg1"/>
                </a:solidFill>
                <a:latin typeface="Noto Sans JP"/>
              </a:rPr>
              <a:t>, S3, Lambda)</a:t>
            </a:r>
          </a:p>
          <a:p>
            <a:r>
              <a:rPr lang="en-US" sz="2400" dirty="0">
                <a:solidFill>
                  <a:schemeClr val="bg1"/>
                </a:solidFill>
                <a:latin typeface="Noto Sans JP"/>
              </a:rPr>
              <a:t>Cost: Pay-as-you-go per pipeline</a:t>
            </a:r>
          </a:p>
          <a:p>
            <a:r>
              <a:rPr lang="en-US" sz="2400" dirty="0">
                <a:solidFill>
                  <a:schemeClr val="bg1"/>
                </a:solidFill>
                <a:latin typeface="Noto Sans JP"/>
              </a:rPr>
              <a:t>Scalability: Automatic</a:t>
            </a:r>
          </a:p>
        </p:txBody>
      </p:sp>
    </p:spTree>
    <p:extLst>
      <p:ext uri="{BB962C8B-B14F-4D97-AF65-F5344CB8AC3E}">
        <p14:creationId xmlns:p14="http://schemas.microsoft.com/office/powerpoint/2010/main" val="2128433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3A1D5-5D52-BFB4-0FCB-76D1BAFD3C4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381DD20-D029-405C-3332-3B1339B9C541}"/>
              </a:ext>
            </a:extLst>
          </p:cNvPr>
          <p:cNvSpPr/>
          <p:nvPr/>
        </p:nvSpPr>
        <p:spPr>
          <a:xfrm>
            <a:off x="0" y="0"/>
            <a:ext cx="12192000" cy="923330"/>
          </a:xfrm>
          <a:prstGeom prst="rect">
            <a:avLst/>
          </a:prstGeom>
          <a:solidFill>
            <a:schemeClr val="accent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AWS Pipeline (CI/CD)</a:t>
            </a:r>
          </a:p>
        </p:txBody>
      </p:sp>
      <p:sp>
        <p:nvSpPr>
          <p:cNvPr id="2" name="Rectangle 1">
            <a:extLst>
              <a:ext uri="{FF2B5EF4-FFF2-40B4-BE49-F238E27FC236}">
                <a16:creationId xmlns:a16="http://schemas.microsoft.com/office/drawing/2014/main" id="{AE108CF4-0087-1BB7-3235-79D7E226FA73}"/>
              </a:ext>
            </a:extLst>
          </p:cNvPr>
          <p:cNvSpPr/>
          <p:nvPr/>
        </p:nvSpPr>
        <p:spPr>
          <a:xfrm>
            <a:off x="608370" y="923330"/>
            <a:ext cx="10975259" cy="4216539"/>
          </a:xfrm>
          <a:prstGeom prst="rect">
            <a:avLst/>
          </a:prstGeom>
          <a:solidFill>
            <a:srgbClr val="FFFF00"/>
          </a:solidFill>
        </p:spPr>
        <p:txBody>
          <a:bodyPr wrap="square" lIns="91440" tIns="45720" rIns="91440" bIns="45720">
            <a:spAutoFit/>
          </a:bodyPr>
          <a:lstStyle/>
          <a:p>
            <a:pPr algn="ctr"/>
            <a:r>
              <a:rPr lang="en-US" sz="4800" dirty="0">
                <a:solidFill>
                  <a:srgbClr val="FF0000"/>
                </a:solidFill>
                <a:latin typeface="Noto Sans JP"/>
              </a:rPr>
              <a:t>Jenkins vs AWS Pipeline</a:t>
            </a:r>
            <a:endParaRPr lang="en-US" sz="2800" dirty="0">
              <a:solidFill>
                <a:schemeClr val="bg1"/>
              </a:solidFill>
              <a:latin typeface="Noto Sans JP"/>
            </a:endParaRPr>
          </a:p>
          <a:p>
            <a:br>
              <a:rPr lang="en-US" sz="2800" b="1" dirty="0">
                <a:solidFill>
                  <a:schemeClr val="bg1"/>
                </a:solidFill>
                <a:latin typeface="Noto Sans JP"/>
              </a:rPr>
            </a:br>
            <a:br>
              <a:rPr lang="en-US" sz="2400" dirty="0">
                <a:solidFill>
                  <a:schemeClr val="bg1"/>
                </a:solidFill>
                <a:latin typeface="Noto Sans JP"/>
              </a:rPr>
            </a:br>
            <a:r>
              <a:rPr lang="en-US" sz="2400" b="1" dirty="0">
                <a:solidFill>
                  <a:schemeClr val="bg1"/>
                </a:solidFill>
                <a:latin typeface="Noto Sans JP"/>
              </a:rPr>
              <a:t>Quick Summary</a:t>
            </a:r>
          </a:p>
          <a:p>
            <a:endParaRPr lang="en-US" sz="2400" b="1" dirty="0">
              <a:solidFill>
                <a:schemeClr val="bg1"/>
              </a:solidFill>
              <a:latin typeface="Noto Sans JP"/>
            </a:endParaRPr>
          </a:p>
          <a:p>
            <a:r>
              <a:rPr lang="en-US" sz="2400" b="1" dirty="0">
                <a:solidFill>
                  <a:schemeClr val="bg1"/>
                </a:solidFill>
                <a:latin typeface="Noto Sans JP"/>
              </a:rPr>
              <a:t>Choose Jenkins → if you need maximum control, custom workflows, or multi-cloud/on-prem support</a:t>
            </a:r>
          </a:p>
          <a:p>
            <a:endParaRPr lang="en-US" sz="2400" b="1" dirty="0">
              <a:solidFill>
                <a:schemeClr val="bg1"/>
              </a:solidFill>
              <a:latin typeface="Noto Sans JP"/>
            </a:endParaRPr>
          </a:p>
          <a:p>
            <a:r>
              <a:rPr lang="en-US" sz="2400" b="1" dirty="0">
                <a:solidFill>
                  <a:schemeClr val="bg1"/>
                </a:solidFill>
                <a:latin typeface="Noto Sans JP"/>
              </a:rPr>
              <a:t>Choose AWS </a:t>
            </a:r>
            <a:r>
              <a:rPr lang="en-US" sz="2400" b="1" dirty="0" err="1">
                <a:solidFill>
                  <a:schemeClr val="bg1"/>
                </a:solidFill>
                <a:latin typeface="Noto Sans JP"/>
              </a:rPr>
              <a:t>CodePipeline</a:t>
            </a:r>
            <a:r>
              <a:rPr lang="en-US" sz="2400" b="1" dirty="0">
                <a:solidFill>
                  <a:schemeClr val="bg1"/>
                </a:solidFill>
                <a:latin typeface="Noto Sans JP"/>
              </a:rPr>
              <a:t> → if you want low-maintenance, AWS-native CI/CD</a:t>
            </a:r>
            <a:br>
              <a:rPr lang="en-US" sz="2400" b="1" dirty="0">
                <a:solidFill>
                  <a:schemeClr val="bg1"/>
                </a:solidFill>
                <a:latin typeface="Noto Sans JP"/>
              </a:rPr>
            </a:br>
            <a:endParaRPr lang="en-US" sz="2400" dirty="0">
              <a:solidFill>
                <a:schemeClr val="bg1"/>
              </a:solidFill>
              <a:latin typeface="Noto Sans JP"/>
            </a:endParaRPr>
          </a:p>
        </p:txBody>
      </p:sp>
    </p:spTree>
    <p:extLst>
      <p:ext uri="{BB962C8B-B14F-4D97-AF65-F5344CB8AC3E}">
        <p14:creationId xmlns:p14="http://schemas.microsoft.com/office/powerpoint/2010/main" val="20807406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548</TotalTime>
  <Words>2056</Words>
  <Application>Microsoft Office PowerPoint</Application>
  <PresentationFormat>Widescreen</PresentationFormat>
  <Paragraphs>216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Century Gothic</vt:lpstr>
      <vt:lpstr>Google Sans</vt:lpstr>
      <vt:lpstr>Noto Sans JP</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Shridhar Mudhashi, GlobalizeMe</dc:creator>
  <cp:lastModifiedBy>Shridhar Mudhashi, GlobalizeMe</cp:lastModifiedBy>
  <cp:revision>122</cp:revision>
  <dcterms:created xsi:type="dcterms:W3CDTF">2023-04-26T14:56:14Z</dcterms:created>
  <dcterms:modified xsi:type="dcterms:W3CDTF">2025-12-14T05:03:12Z</dcterms:modified>
</cp:coreProperties>
</file>